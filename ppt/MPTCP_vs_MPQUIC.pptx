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Sender Throughput (Mbps)</c:v>
                </c:pt>
              </c:strCache>
            </c:strRef>
          </c:tx>
          <c:spPr>
            <a:solidFill>
              <a:srgbClr val="1C7293"/>
            </a:solidFill>
            <a:effectLst/>
          </c:spPr>
          <c:invertIfNegative val="0"/>
          <c:dLbls>
            <c:numFmt formatCode="#,##0" sourceLinked="0"/>
            <c:txPr>
              <a:bodyPr/>
              <a:lstStyle/>
              <a:p>
                <a:pPr>
                  <a:defRPr b="0" i="0" strike="noStrike" sz="1000" u="none">
                    <a:solidFill>
                      <a:srgbClr val="1E2761"/>
                    </a:solidFill>
                    <a:latin typeface="Arial"/>
                  </a:defRPr>
                </a:pPr>
              </a:p>
            </c:txPr>
            <c:showLegendKey val="0"/>
            <c:showVal val="1"/>
            <c:showCatName val="0"/>
            <c:showSerName val="0"/>
            <c:showPercent val="0"/>
            <c:showBubbleSize val="0"/>
            <c:showLeaderLines val="0"/>
          </c:dLbls>
          <c:cat>
            <c:multiLvlStrRef>
              <c:f>Sheet1!$A$2:$A$5</c:f>
              <c:multiLvlStrCache>
                <c:ptCount val="4"/>
                <c:lvl>
                  <c:pt idx="0">
                    <c:v>E1</c:v>
                  </c:pt>
                  <c:pt idx="1">
                    <c:v>E2</c:v>
                  </c:pt>
                  <c:pt idx="2">
                    <c:v>E3</c:v>
                  </c:pt>
                  <c:pt idx="3">
                    <c:v>E4</c:v>
                  </c:pt>
                </c:lvl>
              </c:multiLvlStrCache>
            </c:multiLvlStrRef>
          </c:cat>
          <c:val>
            <c:numRef>
              <c:f>Sheet1!$B$2:$B$5</c:f>
              <c:numCache>
                <c:formatCode>General</c:formatCode>
                <c:ptCount val="4"/>
                <c:pt idx="0">
                  <c:v>95.4</c:v>
                </c:pt>
                <c:pt idx="1">
                  <c:v>52.5</c:v>
                </c:pt>
                <c:pt idx="2">
                  <c:v>42.2</c:v>
                </c:pt>
                <c:pt idx="3">
                  <c:v>79.9</c:v>
                </c:pt>
              </c:numCache>
            </c:numRef>
          </c:val>
        </c:ser>
        <c:dLbls>
          <c:numFmt formatCode="#,##0" sourceLinked="0"/>
          <c:txPr>
            <a:bodyPr/>
            <a:lstStyle/>
            <a:p>
              <a:pPr>
                <a:defRPr b="0" i="0" strike="noStrike" sz="1000" u="none">
                  <a:solidFill>
                    <a:srgbClr val="1E2761"/>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708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6708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home/claude/ppt/icons/gitbranch.png">    </p:cNvPr>
          <p:cNvPicPr>
            <a:picLocks noChangeAspect="1"/>
          </p:cNvPicPr>
          <p:nvPr/>
        </p:nvPicPr>
        <p:blipFill>
          <a:blip r:embed="rId1">
            <a:alphaModFix amt="12000"/>
          </a:blip>
          <a:stretch>
            <a:fillRect/>
          </a:stretch>
        </p:blipFill>
        <p:spPr>
          <a:xfrm>
            <a:off x="8321040" y="914400"/>
            <a:ext cx="4206240" cy="4206240"/>
          </a:xfrm>
          <a:prstGeom prst="rect">
            <a:avLst/>
          </a:prstGeom>
        </p:spPr>
      </p:pic>
      <p:sp>
        <p:nvSpPr>
          <p:cNvPr id="3" name="Text 0"/>
          <p:cNvSpPr txBox="1"/>
          <p:nvPr/>
        </p:nvSpPr>
        <p:spPr>
          <a:xfrm>
            <a:off x="822960" y="1965960"/>
            <a:ext cx="86868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NETWORKING PROJECT · MULTIPATH TRANSPORT PROTOCOLS</a:t>
            </a:r>
            <a:endParaRPr lang="en-US" sz="1300" dirty="0"/>
          </a:p>
        </p:txBody>
      </p:sp>
      <p:sp>
        <p:nvSpPr>
          <p:cNvPr id="4" name="Text 1"/>
          <p:cNvSpPr txBox="1"/>
          <p:nvPr/>
        </p:nvSpPr>
        <p:spPr>
          <a:xfrm>
            <a:off x="777240" y="2331720"/>
            <a:ext cx="960120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MPTCP vs MP-QUIC</a:t>
            </a:r>
            <a:endParaRPr lang="en-US" sz="5000" dirty="0"/>
          </a:p>
        </p:txBody>
      </p:sp>
      <p:sp>
        <p:nvSpPr>
          <p:cNvPr id="5" name="Text 2"/>
          <p:cNvSpPr txBox="1"/>
          <p:nvPr/>
        </p:nvSpPr>
        <p:spPr>
          <a:xfrm>
            <a:off x="822960" y="3364992"/>
            <a:ext cx="8686800" cy="457200"/>
          </a:xfrm>
          <a:prstGeom prst="rect">
            <a:avLst/>
          </a:prstGeom>
          <a:noFill/>
          <a:ln/>
        </p:spPr>
        <p:txBody>
          <a:bodyPr wrap="square" lIns="0" tIns="0" rIns="0" bIns="0" rtlCol="0" anchor="ctr"/>
          <a:lstStyle/>
          <a:p>
            <a:pPr indent="0" marL="0">
              <a:buNone/>
            </a:pPr>
            <a:r>
              <a:rPr lang="en-US" sz="1900" i="1" dirty="0">
                <a:solidFill>
                  <a:srgbClr val="CADCFC"/>
                </a:solidFill>
                <a:latin typeface="Calibri" pitchFamily="34" charset="0"/>
                <a:ea typeface="Calibri" pitchFamily="34" charset="-122"/>
                <a:cs typeface="Calibri" pitchFamily="34" charset="-120"/>
              </a:rPr>
              <a:t>A Comparative Study of Multipath Transport Protocols</a:t>
            </a:r>
            <a:endParaRPr lang="en-US" sz="1900" dirty="0"/>
          </a:p>
        </p:txBody>
      </p:sp>
      <p:sp>
        <p:nvSpPr>
          <p:cNvPr id="6" name="Shape 3"/>
          <p:cNvSpPr/>
          <p:nvPr/>
        </p:nvSpPr>
        <p:spPr>
          <a:xfrm>
            <a:off x="841248" y="4160520"/>
            <a:ext cx="2926080" cy="0"/>
          </a:xfrm>
          <a:prstGeom prst="line">
            <a:avLst/>
          </a:prstGeom>
          <a:noFill/>
          <a:ln w="25400">
            <a:solidFill>
              <a:srgbClr val="1C7293"/>
            </a:solidFill>
            <a:prstDash val="solid"/>
          </a:ln>
        </p:spPr>
      </p:sp>
      <p:sp>
        <p:nvSpPr>
          <p:cNvPr id="7" name="Text 4"/>
          <p:cNvSpPr txBox="1"/>
          <p:nvPr/>
        </p:nvSpPr>
        <p:spPr>
          <a:xfrm>
            <a:off x="822960" y="4434840"/>
            <a:ext cx="6400800" cy="1828800"/>
          </a:xfrm>
          <a:prstGeom prst="rect">
            <a:avLst/>
          </a:prstGeom>
          <a:noFill/>
          <a:ln/>
        </p:spPr>
        <p:txBody>
          <a:bodyPr wrap="square" lIns="0" tIns="0" rIns="0" bIns="0" rtlCol="0" anchor="ctr"/>
          <a:lstStyle/>
          <a:p>
            <a:pPr indent="0" marL="0">
              <a:lnSpc>
                <a:spcPct val="150000"/>
              </a:lnSpc>
              <a:buNone/>
            </a:pPr>
            <a:r>
              <a:rPr lang="en-US" sz="1400" b="1" dirty="0">
                <a:solidFill>
                  <a:srgbClr val="FFFFFF"/>
                </a:solidFill>
                <a:latin typeface="Calibri" pitchFamily="34" charset="0"/>
                <a:ea typeface="Calibri" pitchFamily="34" charset="-122"/>
                <a:cs typeface="Calibri" pitchFamily="34" charset="-120"/>
              </a:rPr>
              <a:t>Kaushal Rathi</a:t>
            </a:r>
            <a:pPr indent="0" marL="0">
              <a:lnSpc>
                <a:spcPct val="150000"/>
              </a:lnSpc>
              <a:buNone/>
            </a:pPr>
            <a:r>
              <a:rPr lang="en-US" sz="1400" dirty="0">
                <a:solidFill>
                  <a:srgbClr val="CADCFC"/>
                </a:solidFill>
                <a:latin typeface="Calibri" pitchFamily="34" charset="0"/>
                <a:ea typeface="Calibri" pitchFamily="34" charset="-122"/>
                <a:cs typeface="Calibri" pitchFamily="34" charset="-120"/>
              </a:rPr>
              <a:t>   24110290</a:t>
            </a:r>
            <a:endParaRPr lang="en-US" sz="1400" dirty="0"/>
          </a:p>
          <a:p>
            <a:pPr indent="0" marL="0">
              <a:lnSpc>
                <a:spcPct val="150000"/>
              </a:lnSpc>
              <a:buNone/>
            </a:pPr>
            <a:r>
              <a:rPr lang="en-US" sz="1400" b="1" dirty="0">
                <a:solidFill>
                  <a:srgbClr val="FFFFFF"/>
                </a:solidFill>
                <a:latin typeface="Calibri" pitchFamily="34" charset="0"/>
                <a:ea typeface="Calibri" pitchFamily="34" charset="-122"/>
                <a:cs typeface="Calibri" pitchFamily="34" charset="-120"/>
              </a:rPr>
              <a:t>Krina Paghadar</a:t>
            </a:r>
            <a:pPr indent="0" marL="0">
              <a:lnSpc>
                <a:spcPct val="150000"/>
              </a:lnSpc>
              <a:buNone/>
            </a:pPr>
            <a:r>
              <a:rPr lang="en-US" sz="1400" dirty="0">
                <a:solidFill>
                  <a:srgbClr val="CADCFC"/>
                </a:solidFill>
                <a:latin typeface="Calibri" pitchFamily="34" charset="0"/>
                <a:ea typeface="Calibri" pitchFamily="34" charset="-122"/>
                <a:cs typeface="Calibri" pitchFamily="34" charset="-120"/>
              </a:rPr>
              <a:t>   24110169</a:t>
            </a:r>
            <a:endParaRPr lang="en-US" sz="1400" dirty="0"/>
          </a:p>
          <a:p>
            <a:pPr indent="0" marL="0">
              <a:lnSpc>
                <a:spcPct val="150000"/>
              </a:lnSpc>
              <a:buNone/>
            </a:pPr>
            <a:r>
              <a:rPr lang="en-US" sz="1400" b="1" dirty="0">
                <a:solidFill>
                  <a:srgbClr val="FFFFFF"/>
                </a:solidFill>
                <a:latin typeface="Calibri" pitchFamily="34" charset="0"/>
                <a:ea typeface="Calibri" pitchFamily="34" charset="-122"/>
                <a:cs typeface="Calibri" pitchFamily="34" charset="-120"/>
              </a:rPr>
              <a:t>Pratik Kumar Dhakar</a:t>
            </a:r>
            <a:pPr indent="0" marL="0">
              <a:lnSpc>
                <a:spcPct val="150000"/>
              </a:lnSpc>
              <a:buNone/>
            </a:pPr>
            <a:r>
              <a:rPr lang="en-US" sz="1400" dirty="0">
                <a:solidFill>
                  <a:srgbClr val="CADCFC"/>
                </a:solidFill>
                <a:latin typeface="Calibri" pitchFamily="34" charset="0"/>
                <a:ea typeface="Calibri" pitchFamily="34" charset="-122"/>
                <a:cs typeface="Calibri" pitchFamily="34" charset="-120"/>
              </a:rPr>
              <a:t>   24110277</a:t>
            </a:r>
            <a:endParaRPr lang="en-US" sz="1400" dirty="0"/>
          </a:p>
          <a:p>
            <a:pPr indent="0" marL="0">
              <a:lnSpc>
                <a:spcPct val="150000"/>
              </a:lnSpc>
              <a:buNone/>
            </a:pPr>
            <a:r>
              <a:rPr lang="en-US" sz="1400" b="1" dirty="0">
                <a:solidFill>
                  <a:srgbClr val="FFFFFF"/>
                </a:solidFill>
                <a:latin typeface="Calibri" pitchFamily="34" charset="0"/>
                <a:ea typeface="Calibri" pitchFamily="34" charset="-122"/>
                <a:cs typeface="Calibri" pitchFamily="34" charset="-120"/>
              </a:rPr>
              <a:t>Swamini More</a:t>
            </a:r>
            <a:pPr indent="0" marL="0">
              <a:lnSpc>
                <a:spcPct val="150000"/>
              </a:lnSpc>
              <a:buNone/>
            </a:pPr>
            <a:r>
              <a:rPr lang="en-US" sz="1400" dirty="0">
                <a:solidFill>
                  <a:srgbClr val="CADCFC"/>
                </a:solidFill>
                <a:latin typeface="Calibri" pitchFamily="34" charset="0"/>
                <a:ea typeface="Calibri" pitchFamily="34" charset="-122"/>
                <a:cs typeface="Calibri" pitchFamily="34" charset="-120"/>
              </a:rPr>
              <a:t>   24110211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1E2761"/>
          </a:solidFill>
          <a:ln/>
        </p:spPr>
      </p:sp>
      <p:pic>
        <p:nvPicPr>
          <p:cNvPr id="3" name="Image 0" descr="/home/claude/ppt/icons/target.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01 · MOTIVATION &amp; SCOPE</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Problem Statement &amp; Objectives</a:t>
            </a:r>
            <a:endParaRPr lang="en-US" sz="2700" dirty="0"/>
          </a:p>
        </p:txBody>
      </p:sp>
      <p:sp>
        <p:nvSpPr>
          <p:cNvPr id="6" name="Shape 3"/>
          <p:cNvSpPr/>
          <p:nvPr/>
        </p:nvSpPr>
        <p:spPr>
          <a:xfrm>
            <a:off x="457200" y="1325880"/>
            <a:ext cx="5486400" cy="2788920"/>
          </a:xfrm>
          <a:prstGeom prst="roundRect">
            <a:avLst>
              <a:gd name="adj" fmla="val 2623"/>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7" name="Text 4"/>
          <p:cNvSpPr txBox="1"/>
          <p:nvPr/>
        </p:nvSpPr>
        <p:spPr>
          <a:xfrm>
            <a:off x="731520" y="1581912"/>
            <a:ext cx="4937760" cy="274320"/>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WHY MULTIPATH?</a:t>
            </a:r>
            <a:endParaRPr lang="en-US" sz="1200" dirty="0"/>
          </a:p>
        </p:txBody>
      </p:sp>
      <p:sp>
        <p:nvSpPr>
          <p:cNvPr id="8" name="Text 5"/>
          <p:cNvSpPr txBox="1"/>
          <p:nvPr/>
        </p:nvSpPr>
        <p:spPr>
          <a:xfrm>
            <a:off x="731520" y="1947672"/>
            <a:ext cx="4937760" cy="19659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4273B"/>
                </a:solidFill>
                <a:latin typeface="Calibri" pitchFamily="34" charset="0"/>
                <a:ea typeface="Calibri" pitchFamily="34" charset="-122"/>
                <a:cs typeface="Calibri" pitchFamily="34" charset="-120"/>
              </a:rPr>
              <a:t>Reliability — tolerate a path failure without dropping the connection</a:t>
            </a:r>
            <a:endParaRPr lang="en-US" sz="1300" dirty="0"/>
          </a:p>
          <a:p>
            <a:pPr marL="177800" indent="-177800">
              <a:spcAft>
                <a:spcPts val="1200"/>
              </a:spcAft>
              <a:buSzPct val="100000"/>
              <a:buChar char="•"/>
            </a:pPr>
            <a:r>
              <a:rPr lang="en-US" sz="1300" dirty="0">
                <a:solidFill>
                  <a:srgbClr val="24273B"/>
                </a:solidFill>
                <a:latin typeface="Calibri" pitchFamily="34" charset="0"/>
                <a:ea typeface="Calibri" pitchFamily="34" charset="-122"/>
                <a:cs typeface="Calibri" pitchFamily="34" charset="-120"/>
              </a:rPr>
              <a:t>Throughput — combine bandwidth across simultaneously active paths</a:t>
            </a:r>
            <a:endParaRPr lang="en-US" sz="1300" dirty="0"/>
          </a:p>
          <a:p>
            <a:pPr marL="177800" indent="-177800">
              <a:spcAft>
                <a:spcPts val="1200"/>
              </a:spcAft>
              <a:buSzPct val="100000"/>
              <a:buChar char="•"/>
            </a:pPr>
            <a:r>
              <a:rPr lang="en-US" sz="1300" dirty="0">
                <a:solidFill>
                  <a:srgbClr val="24273B"/>
                </a:solidFill>
                <a:latin typeface="Calibri" pitchFamily="34" charset="0"/>
                <a:ea typeface="Calibri" pitchFamily="34" charset="-122"/>
                <a:cs typeface="Calibri" pitchFamily="34" charset="-120"/>
              </a:rPr>
              <a:t>Real-world driver — mobile devices with Wi-Fi + cellular, dual-uplink servers, datacenter multi-homing</a:t>
            </a:r>
            <a:endParaRPr lang="en-US" sz="1300" dirty="0"/>
          </a:p>
        </p:txBody>
      </p:sp>
      <p:sp>
        <p:nvSpPr>
          <p:cNvPr id="9" name="Shape 6"/>
          <p:cNvSpPr/>
          <p:nvPr/>
        </p:nvSpPr>
        <p:spPr>
          <a:xfrm>
            <a:off x="6245352" y="1325880"/>
            <a:ext cx="5486400" cy="2788920"/>
          </a:xfrm>
          <a:prstGeom prst="roundRect">
            <a:avLst>
              <a:gd name="adj" fmla="val 2623"/>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0" name="Text 7"/>
          <p:cNvSpPr txBox="1"/>
          <p:nvPr/>
        </p:nvSpPr>
        <p:spPr>
          <a:xfrm>
            <a:off x="6519672" y="1581912"/>
            <a:ext cx="4937760" cy="274320"/>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PROJECT OBJECTIVES</a:t>
            </a:r>
            <a:endParaRPr lang="en-US" sz="1200" dirty="0"/>
          </a:p>
        </p:txBody>
      </p:sp>
      <p:sp>
        <p:nvSpPr>
          <p:cNvPr id="11" name="Text 8"/>
          <p:cNvSpPr txBox="1"/>
          <p:nvPr/>
        </p:nvSpPr>
        <p:spPr>
          <a:xfrm>
            <a:off x="6519672" y="1947672"/>
            <a:ext cx="4937760" cy="1965960"/>
          </a:xfrm>
          <a:prstGeom prst="rect">
            <a:avLst/>
          </a:prstGeom>
          <a:noFill/>
          <a:ln/>
        </p:spPr>
        <p:txBody>
          <a:bodyPr wrap="square" lIns="0" tIns="0" rIns="0" bIns="0" rtlCol="0" anchor="t"/>
          <a:lstStyle/>
          <a:p>
            <a:pPr marL="177800" indent="-177800">
              <a:spcAft>
                <a:spcPts val="900"/>
              </a:spcAft>
              <a:buSzPct val="100000"/>
              <a:buChar char="•"/>
            </a:pPr>
            <a:r>
              <a:rPr lang="en-US" sz="1250" dirty="0">
                <a:solidFill>
                  <a:srgbClr val="24273B"/>
                </a:solidFill>
                <a:latin typeface="Calibri" pitchFamily="34" charset="0"/>
                <a:ea typeface="Calibri" pitchFamily="34" charset="-122"/>
                <a:cs typeface="Calibri" pitchFamily="34" charset="-120"/>
              </a:rPr>
              <a:t>Compare MPTCP and MP-QUIC for video streaming, file transfer, and VoIP</a:t>
            </a:r>
            <a:endParaRPr lang="en-US" sz="1250" dirty="0"/>
          </a:p>
          <a:p>
            <a:pPr marL="177800" indent="-177800">
              <a:spcAft>
                <a:spcPts val="900"/>
              </a:spcAft>
              <a:buSzPct val="100000"/>
              <a:buChar char="•"/>
            </a:pPr>
            <a:r>
              <a:rPr lang="en-US" sz="1250" dirty="0">
                <a:solidFill>
                  <a:srgbClr val="24273B"/>
                </a:solidFill>
                <a:latin typeface="Calibri" pitchFamily="34" charset="0"/>
                <a:ea typeface="Calibri" pitchFamily="34" charset="-122"/>
                <a:cs typeface="Calibri" pitchFamily="34" charset="-120"/>
              </a:rPr>
              <a:t>Measure throughput, latency (RTT / jitter), and connection stability under controlled conditions</a:t>
            </a:r>
            <a:endParaRPr lang="en-US" sz="1250" dirty="0"/>
          </a:p>
          <a:p>
            <a:pPr marL="177800" indent="-177800">
              <a:spcAft>
                <a:spcPts val="900"/>
              </a:spcAft>
              <a:buSzPct val="100000"/>
              <a:buChar char="•"/>
            </a:pPr>
            <a:r>
              <a:rPr lang="en-US" sz="1250" dirty="0">
                <a:solidFill>
                  <a:srgbClr val="24273B"/>
                </a:solidFill>
                <a:latin typeface="Calibri" pitchFamily="34" charset="0"/>
                <a:ea typeface="Calibri" pitchFamily="34" charset="-122"/>
                <a:cs typeface="Calibri" pitchFamily="34" charset="-120"/>
              </a:rPr>
              <a:t>Analyze how each protocol handles packet loss and congestion</a:t>
            </a:r>
            <a:endParaRPr lang="en-US" sz="1250" dirty="0"/>
          </a:p>
          <a:p>
            <a:pPr marL="177800" indent="-177800">
              <a:spcAft>
                <a:spcPts val="900"/>
              </a:spcAft>
              <a:buSzPct val="100000"/>
              <a:buChar char="•"/>
            </a:pPr>
            <a:r>
              <a:rPr lang="en-US" sz="1250" dirty="0">
                <a:solidFill>
                  <a:srgbClr val="24273B"/>
                </a:solidFill>
                <a:latin typeface="Calibri" pitchFamily="34" charset="0"/>
                <a:ea typeface="Calibri" pitchFamily="34" charset="-122"/>
                <a:cs typeface="Calibri" pitchFamily="34" charset="-120"/>
              </a:rPr>
              <a:t>Recommend a protocol/scheduler by application need — not a single universal winner</a:t>
            </a:r>
            <a:endParaRPr lang="en-US" sz="1250" dirty="0"/>
          </a:p>
        </p:txBody>
      </p:sp>
      <p:sp>
        <p:nvSpPr>
          <p:cNvPr id="12" name="Shape 9"/>
          <p:cNvSpPr/>
          <p:nvPr/>
        </p:nvSpPr>
        <p:spPr>
          <a:xfrm>
            <a:off x="457200" y="4343400"/>
            <a:ext cx="11274552" cy="1600200"/>
          </a:xfrm>
          <a:prstGeom prst="roundRect">
            <a:avLst>
              <a:gd name="adj" fmla="val 4571"/>
            </a:avLst>
          </a:prstGeom>
          <a:solidFill>
            <a:srgbClr val="FFFFFF"/>
          </a:solidFill>
          <a:ln w="12700">
            <a:solidFill>
              <a:srgbClr val="1C7293"/>
            </a:solidFill>
            <a:prstDash val="solid"/>
          </a:ln>
          <a:effectLst>
            <a:outerShdw sx="100000" sy="100000" kx="0" ky="0" algn="bl" rotWithShape="0" blurRad="76200" dist="25400" dir="5400000">
              <a:srgbClr val="9AA5C2">
                <a:alpha val="18000"/>
              </a:srgbClr>
            </a:outerShdw>
          </a:effectLst>
        </p:spPr>
      </p:sp>
      <p:sp>
        <p:nvSpPr>
          <p:cNvPr id="13" name="Text 10"/>
          <p:cNvSpPr txBox="1"/>
          <p:nvPr/>
        </p:nvSpPr>
        <p:spPr>
          <a:xfrm>
            <a:off x="731520" y="4544568"/>
            <a:ext cx="5486400" cy="256032"/>
          </a:xfrm>
          <a:prstGeom prst="rect">
            <a:avLst/>
          </a:prstGeom>
          <a:noFill/>
          <a:ln/>
        </p:spPr>
        <p:txBody>
          <a:bodyPr wrap="square" lIns="0" tIns="0" rIns="0" bIns="0" rtlCol="0" anchor="ctr"/>
          <a:lstStyle/>
          <a:p>
            <a:pPr indent="0" marL="0">
              <a:buNone/>
            </a:pPr>
            <a:r>
              <a:rPr lang="en-US" sz="1200" b="1" spc="100" kern="0" dirty="0">
                <a:solidFill>
                  <a:srgbClr val="1E2761"/>
                </a:solidFill>
                <a:latin typeface="Calibri" pitchFamily="34" charset="0"/>
                <a:ea typeface="Calibri" pitchFamily="34" charset="-122"/>
                <a:cs typeface="Calibri" pitchFamily="34" charset="-120"/>
              </a:rPr>
              <a:t>SCOPE OF THIS PROJECT</a:t>
            </a:r>
            <a:endParaRPr lang="en-US" sz="1200" dirty="0"/>
          </a:p>
        </p:txBody>
      </p:sp>
      <p:sp>
        <p:nvSpPr>
          <p:cNvPr id="14" name="Text 11"/>
          <p:cNvSpPr txBox="1"/>
          <p:nvPr/>
        </p:nvSpPr>
        <p:spPr>
          <a:xfrm>
            <a:off x="731520" y="4864608"/>
            <a:ext cx="10698480" cy="1005840"/>
          </a:xfrm>
          <a:prstGeom prst="rect">
            <a:avLst/>
          </a:prstGeom>
          <a:noFill/>
          <a:ln/>
        </p:spPr>
        <p:txBody>
          <a:bodyPr wrap="square" lIns="0" tIns="0" rIns="0" bIns="0" rtlCol="0" anchor="ctr"/>
          <a:lstStyle/>
          <a:p>
            <a:pPr indent="0" marL="0">
              <a:lnSpc>
                <a:spcPct val="118000"/>
              </a:lnSpc>
              <a:buNone/>
            </a:pPr>
            <a:r>
              <a:rPr lang="en-US" sz="1200" dirty="0">
                <a:solidFill>
                  <a:srgbClr val="24273B"/>
                </a:solidFill>
                <a:latin typeface="Calibri" pitchFamily="34" charset="0"/>
                <a:ea typeface="Calibri" pitchFamily="34" charset="-122"/>
                <a:cs typeface="Calibri" pitchFamily="34" charset="-120"/>
              </a:rPr>
              <a:t>Both MPTCP and MP-QUIC (via TQUIC, tested across MinRTT, Round Robin, and Redundant schedulers) were fully implemented and measured across four controlled experiments (symmetric paths, asymmetric paths, packet loss, and mid-transfer path failure) and three application workloads (file transfer, video, VoIP). A separate published study (De Coninck &amp; Bonaventure, CoNEXT 2017) is used only for external context, kept clearly distinct from our own measured results.</a:t>
            </a:r>
            <a:endParaRPr lang="en-US" sz="1200" dirty="0"/>
          </a:p>
        </p:txBody>
      </p:sp>
      <p:sp>
        <p:nvSpPr>
          <p:cNvPr id="15" name="Text 12"/>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MPTCP vs MP-QUIC</a:t>
            </a:r>
            <a:endParaRPr lang="en-US" sz="900" dirty="0"/>
          </a:p>
        </p:txBody>
      </p:sp>
      <p:sp>
        <p:nvSpPr>
          <p:cNvPr id="16" name="Text 13"/>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1E2761"/>
          </a:solidFill>
          <a:ln/>
        </p:spPr>
      </p:sp>
      <p:pic>
        <p:nvPicPr>
          <p:cNvPr id="3" name="Image 0" descr="/home/claude/ppt/icons/gitbranch.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02 · DESIGN</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Architecture &amp; Mechanism</a:t>
            </a:r>
            <a:endParaRPr lang="en-US" sz="2700" dirty="0"/>
          </a:p>
        </p:txBody>
      </p:sp>
      <p:sp>
        <p:nvSpPr>
          <p:cNvPr id="6" name="Shape 3"/>
          <p:cNvSpPr/>
          <p:nvPr/>
        </p:nvSpPr>
        <p:spPr>
          <a:xfrm>
            <a:off x="457200" y="1325880"/>
            <a:ext cx="5486400" cy="2331720"/>
          </a:xfrm>
          <a:prstGeom prst="roundRect">
            <a:avLst>
              <a:gd name="adj" fmla="val 3137"/>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7" name="Text 4"/>
          <p:cNvSpPr txBox="1"/>
          <p:nvPr/>
        </p:nvSpPr>
        <p:spPr>
          <a:xfrm>
            <a:off x="731520" y="1554480"/>
            <a:ext cx="4937760" cy="274320"/>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MPTCP — KERNEL-LEVEL</a:t>
            </a:r>
            <a:endParaRPr lang="en-US" sz="1200" dirty="0"/>
          </a:p>
        </p:txBody>
      </p:sp>
      <p:sp>
        <p:nvSpPr>
          <p:cNvPr id="8" name="Text 5"/>
          <p:cNvSpPr txBox="1"/>
          <p:nvPr/>
        </p:nvSpPr>
        <p:spPr>
          <a:xfrm>
            <a:off x="731520" y="1874520"/>
            <a:ext cx="4937760" cy="16002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MP_CAPABLE handshake negotiates multipath support (HMAC-SHA256 proof)</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MP_JOIN adds a subflow: token + nonce + HMAC prove it belongs to the connection</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Path manager opens subflows; kernel scheduler assigns packets by per-path RTT / cwnd</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Design goal: “must resemble TCP on the wire” for middlebox compatibility</a:t>
            </a:r>
            <a:endParaRPr lang="en-US" sz="1150" dirty="0"/>
          </a:p>
        </p:txBody>
      </p:sp>
      <p:sp>
        <p:nvSpPr>
          <p:cNvPr id="9" name="Shape 6"/>
          <p:cNvSpPr/>
          <p:nvPr/>
        </p:nvSpPr>
        <p:spPr>
          <a:xfrm>
            <a:off x="6245352" y="1325880"/>
            <a:ext cx="5486400" cy="2331720"/>
          </a:xfrm>
          <a:prstGeom prst="roundRect">
            <a:avLst>
              <a:gd name="adj" fmla="val 3137"/>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0" name="Text 7"/>
          <p:cNvSpPr txBox="1"/>
          <p:nvPr/>
        </p:nvSpPr>
        <p:spPr>
          <a:xfrm>
            <a:off x="6519672" y="1554480"/>
            <a:ext cx="4937760" cy="274320"/>
          </a:xfrm>
          <a:prstGeom prst="rect">
            <a:avLst/>
          </a:prstGeom>
          <a:noFill/>
          <a:ln/>
        </p:spPr>
        <p:txBody>
          <a:bodyPr wrap="square" lIns="0" tIns="0" rIns="0" bIns="0" rtlCol="0" anchor="ctr"/>
          <a:lstStyle/>
          <a:p>
            <a:pPr indent="0" marL="0">
              <a:buNone/>
            </a:pPr>
            <a:r>
              <a:rPr lang="en-US" sz="1200" b="1" spc="100" kern="0" dirty="0">
                <a:solidFill>
                  <a:srgbClr val="C1666B"/>
                </a:solidFill>
                <a:latin typeface="Calibri" pitchFamily="34" charset="0"/>
                <a:ea typeface="Calibri" pitchFamily="34" charset="-122"/>
                <a:cs typeface="Calibri" pitchFamily="34" charset="-120"/>
              </a:rPr>
              <a:t>MP-QUIC — LIBRARY-LEVEL</a:t>
            </a:r>
            <a:endParaRPr lang="en-US" sz="1200" dirty="0"/>
          </a:p>
        </p:txBody>
      </p:sp>
      <p:sp>
        <p:nvSpPr>
          <p:cNvPr id="11" name="Text 8"/>
          <p:cNvSpPr txBox="1"/>
          <p:nvPr/>
        </p:nvSpPr>
        <p:spPr>
          <a:xfrm>
            <a:off x="6519672" y="1874520"/>
            <a:ext cx="4937760" cy="16002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Each path validated independently via PATH_CHALLENGE / PATH_RESPONSE</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Per-path RTT + cwnd drive a MinRTT-style scheduler — no cross-path coupled window</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Runs over UDP; multipath logic lives in the library (e.g. TQUIC), not the OS kernel</a:t>
            </a:r>
            <a:endParaRPr lang="en-US" sz="1150" dirty="0"/>
          </a:p>
          <a:p>
            <a:pPr marL="177800" indent="-177800">
              <a:spcAft>
                <a:spcPts val="700"/>
              </a:spcAft>
              <a:buSzPct val="100000"/>
              <a:buChar char="•"/>
            </a:pPr>
            <a:r>
              <a:rPr lang="en-US" sz="1150" dirty="0">
                <a:solidFill>
                  <a:srgbClr val="24273B"/>
                </a:solidFill>
                <a:latin typeface="Calibri" pitchFamily="34" charset="0"/>
                <a:ea typeface="Calibri" pitchFamily="34" charset="-122"/>
                <a:cs typeface="Calibri" pitchFamily="34" charset="-120"/>
              </a:rPr>
              <a:t>Failure detection is probe-driven, not TCP's RTO-based subflow timeout</a:t>
            </a:r>
            <a:endParaRPr lang="en-US" sz="1150" dirty="0"/>
          </a:p>
        </p:txBody>
      </p:sp>
      <p:sp>
        <p:nvSpPr>
          <p:cNvPr id="12" name="Shape 9"/>
          <p:cNvSpPr/>
          <p:nvPr/>
        </p:nvSpPr>
        <p:spPr>
          <a:xfrm>
            <a:off x="457200" y="3886200"/>
            <a:ext cx="11274552" cy="2057400"/>
          </a:xfrm>
          <a:prstGeom prst="roundRect">
            <a:avLst>
              <a:gd name="adj" fmla="val 3556"/>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3" name="Text 10"/>
          <p:cNvSpPr txBox="1"/>
          <p:nvPr/>
        </p:nvSpPr>
        <p:spPr>
          <a:xfrm>
            <a:off x="731520" y="4050792"/>
            <a:ext cx="7315200" cy="256032"/>
          </a:xfrm>
          <a:prstGeom prst="rect">
            <a:avLst/>
          </a:prstGeom>
          <a:noFill/>
          <a:ln/>
        </p:spPr>
        <p:txBody>
          <a:bodyPr wrap="square" lIns="0" tIns="0" rIns="0" bIns="0" rtlCol="0" anchor="ctr"/>
          <a:lstStyle/>
          <a:p>
            <a:pPr indent="0" marL="0">
              <a:buNone/>
            </a:pPr>
            <a:r>
              <a:rPr lang="en-US" sz="1200" b="1" spc="100" kern="0" dirty="0">
                <a:solidFill>
                  <a:srgbClr val="1E2761"/>
                </a:solidFill>
                <a:latin typeface="Calibri" pitchFamily="34" charset="0"/>
                <a:ea typeface="Calibri" pitchFamily="34" charset="-122"/>
                <a:cs typeface="Calibri" pitchFamily="34" charset="-120"/>
              </a:rPr>
              <a:t>TESTBED — MIRRORED FOR BOTH PROTOCOLS</a:t>
            </a:r>
            <a:endParaRPr lang="en-US" sz="1200" dirty="0"/>
          </a:p>
        </p:txBody>
      </p:sp>
      <p:sp>
        <p:nvSpPr>
          <p:cNvPr id="14" name="Shape 11"/>
          <p:cNvSpPr/>
          <p:nvPr/>
        </p:nvSpPr>
        <p:spPr>
          <a:xfrm>
            <a:off x="1005840" y="4480560"/>
            <a:ext cx="1463040" cy="777240"/>
          </a:xfrm>
          <a:prstGeom prst="roundRect">
            <a:avLst>
              <a:gd name="adj" fmla="val 8235"/>
            </a:avLst>
          </a:prstGeom>
          <a:solidFill>
            <a:srgbClr val="1E2761"/>
          </a:solidFill>
          <a:ln/>
        </p:spPr>
      </p:sp>
      <p:sp>
        <p:nvSpPr>
          <p:cNvPr id="15" name="Text 12"/>
          <p:cNvSpPr txBox="1"/>
          <p:nvPr/>
        </p:nvSpPr>
        <p:spPr>
          <a:xfrm>
            <a:off x="1005840" y="448056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Client</a:t>
            </a:r>
            <a:endParaRPr lang="en-US" sz="1300" dirty="0"/>
          </a:p>
        </p:txBody>
      </p:sp>
      <p:sp>
        <p:nvSpPr>
          <p:cNvPr id="16" name="Shape 13"/>
          <p:cNvSpPr/>
          <p:nvPr/>
        </p:nvSpPr>
        <p:spPr>
          <a:xfrm>
            <a:off x="9692640" y="4480560"/>
            <a:ext cx="1463040" cy="777240"/>
          </a:xfrm>
          <a:prstGeom prst="roundRect">
            <a:avLst>
              <a:gd name="adj" fmla="val 8235"/>
            </a:avLst>
          </a:prstGeom>
          <a:solidFill>
            <a:srgbClr val="1E2761"/>
          </a:solidFill>
          <a:ln/>
        </p:spPr>
      </p:sp>
      <p:sp>
        <p:nvSpPr>
          <p:cNvPr id="17" name="Text 14"/>
          <p:cNvSpPr txBox="1"/>
          <p:nvPr/>
        </p:nvSpPr>
        <p:spPr>
          <a:xfrm>
            <a:off x="9692640" y="4480560"/>
            <a:ext cx="14630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Server</a:t>
            </a:r>
            <a:endParaRPr lang="en-US" sz="1300" dirty="0"/>
          </a:p>
        </p:txBody>
      </p:sp>
      <p:sp>
        <p:nvSpPr>
          <p:cNvPr id="18" name="Shape 15"/>
          <p:cNvSpPr/>
          <p:nvPr/>
        </p:nvSpPr>
        <p:spPr>
          <a:xfrm>
            <a:off x="2468880" y="4645152"/>
            <a:ext cx="7223760" cy="0"/>
          </a:xfrm>
          <a:prstGeom prst="line">
            <a:avLst/>
          </a:prstGeom>
          <a:noFill/>
          <a:ln w="31750">
            <a:solidFill>
              <a:srgbClr val="1C7293"/>
            </a:solidFill>
            <a:prstDash val="solid"/>
          </a:ln>
        </p:spPr>
      </p:sp>
      <p:sp>
        <p:nvSpPr>
          <p:cNvPr id="19" name="Text 16"/>
          <p:cNvSpPr txBox="1"/>
          <p:nvPr/>
        </p:nvSpPr>
        <p:spPr>
          <a:xfrm>
            <a:off x="3108960" y="4187952"/>
            <a:ext cx="5486400" cy="256032"/>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Path 1 — 50 Mbps / 10 ms</a:t>
            </a:r>
            <a:endParaRPr lang="en-US" sz="1050" dirty="0"/>
          </a:p>
        </p:txBody>
      </p:sp>
      <p:sp>
        <p:nvSpPr>
          <p:cNvPr id="20" name="Shape 17"/>
          <p:cNvSpPr/>
          <p:nvPr/>
        </p:nvSpPr>
        <p:spPr>
          <a:xfrm>
            <a:off x="2468880" y="5047488"/>
            <a:ext cx="7223760" cy="0"/>
          </a:xfrm>
          <a:prstGeom prst="line">
            <a:avLst/>
          </a:prstGeom>
          <a:noFill/>
          <a:ln w="31750">
            <a:solidFill>
              <a:srgbClr val="C1666B"/>
            </a:solidFill>
            <a:prstDash val="dash"/>
          </a:ln>
        </p:spPr>
      </p:sp>
      <p:sp>
        <p:nvSpPr>
          <p:cNvPr id="21" name="Text 18"/>
          <p:cNvSpPr txBox="1"/>
          <p:nvPr/>
        </p:nvSpPr>
        <p:spPr>
          <a:xfrm>
            <a:off x="3108960" y="5102352"/>
            <a:ext cx="7772400" cy="256032"/>
          </a:xfrm>
          <a:prstGeom prst="rect">
            <a:avLst/>
          </a:prstGeom>
          <a:noFill/>
          <a:ln/>
        </p:spPr>
        <p:txBody>
          <a:bodyPr wrap="square" lIns="0" tIns="0" rIns="0" bIns="0" rtlCol="0" anchor="ctr"/>
          <a:lstStyle/>
          <a:p>
            <a:pPr indent="0" marL="0">
              <a:buNone/>
            </a:pPr>
            <a:r>
              <a:rPr lang="en-US" sz="1050" b="1" dirty="0">
                <a:solidFill>
                  <a:srgbClr val="C1666B"/>
                </a:solidFill>
                <a:latin typeface="Calibri" pitchFamily="34" charset="0"/>
                <a:ea typeface="Calibri" pitchFamily="34" charset="-122"/>
                <a:cs typeface="Calibri" pitchFamily="34" charset="-120"/>
              </a:rPr>
              <a:t>Path 2 — varied per experiment (5-50 Mbps, 10-80 ms, 0-3% loss, or failed)</a:t>
            </a:r>
            <a:endParaRPr lang="en-US" sz="1050" dirty="0"/>
          </a:p>
        </p:txBody>
      </p:sp>
      <p:sp>
        <p:nvSpPr>
          <p:cNvPr id="22" name="Text 19"/>
          <p:cNvSpPr txBox="1"/>
          <p:nvPr/>
        </p:nvSpPr>
        <p:spPr>
          <a:xfrm>
            <a:off x="731520" y="5577840"/>
            <a:ext cx="10698480" cy="274320"/>
          </a:xfrm>
          <a:prstGeom prst="rect">
            <a:avLst/>
          </a:prstGeom>
          <a:noFill/>
          <a:ln/>
        </p:spPr>
        <p:txBody>
          <a:bodyPr wrap="square" lIns="0" tIns="0" rIns="0" bIns="0" rtlCol="0" anchor="ctr"/>
          <a:lstStyle/>
          <a:p>
            <a:pPr indent="0" marL="0">
              <a:buNone/>
            </a:pPr>
            <a:r>
              <a:rPr lang="en-US" sz="1050" i="1" dirty="0">
                <a:solidFill>
                  <a:srgbClr val="667085"/>
                </a:solidFill>
                <a:latin typeface="Calibri" pitchFamily="34" charset="0"/>
                <a:ea typeface="Calibri" pitchFamily="34" charset="-122"/>
                <a:cs typeface="Calibri" pitchFamily="34" charset="-120"/>
              </a:rPr>
              <a:t>Tooling: Mininet + NetEm (topology &amp; impairment)   ·   iproute2 (MPTCP subflow / path control)   ·   iperf3 (throughput)   ·   Wireshark (packet capture)</a:t>
            </a:r>
            <a:endParaRPr lang="en-US" sz="1050" dirty="0"/>
          </a:p>
        </p:txBody>
      </p:sp>
      <p:sp>
        <p:nvSpPr>
          <p:cNvPr id="23" name="Text 20"/>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MPTCP vs MP-QUIC</a:t>
            </a:r>
            <a:endParaRPr lang="en-US" sz="900" dirty="0"/>
          </a:p>
        </p:txBody>
      </p:sp>
      <p:sp>
        <p:nvSpPr>
          <p:cNvPr id="24" name="Text 21"/>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1E2761"/>
          </a:solidFill>
          <a:ln/>
        </p:spPr>
      </p:sp>
      <p:pic>
        <p:nvPicPr>
          <p:cNvPr id="3" name="Image 0" descr="/home/claude/ppt/icons/activity.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03 · IMPLEMENTATION &amp; RESULTS</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Extension, Issues &amp; Evaluation</a:t>
            </a:r>
            <a:endParaRPr lang="en-US" sz="2700" dirty="0"/>
          </a:p>
        </p:txBody>
      </p:sp>
      <p:sp>
        <p:nvSpPr>
          <p:cNvPr id="6" name="Text 3"/>
          <p:cNvSpPr txBox="1"/>
          <p:nvPr/>
        </p:nvSpPr>
        <p:spPr>
          <a:xfrm>
            <a:off x="457200" y="1207008"/>
            <a:ext cx="6400800" cy="256032"/>
          </a:xfrm>
          <a:prstGeom prst="rect">
            <a:avLst/>
          </a:prstGeom>
          <a:noFill/>
          <a:ln/>
        </p:spPr>
        <p:txBody>
          <a:bodyPr wrap="square" lIns="0" tIns="0" rIns="0" bIns="0" rtlCol="0" anchor="ctr"/>
          <a:lstStyle/>
          <a:p>
            <a:pPr indent="0" marL="0">
              <a:buNone/>
            </a:pPr>
            <a:r>
              <a:rPr lang="en-US" sz="1200" b="1" spc="100" kern="0" dirty="0">
                <a:solidFill>
                  <a:srgbClr val="1E2761"/>
                </a:solidFill>
                <a:latin typeface="Calibri" pitchFamily="34" charset="0"/>
                <a:ea typeface="Calibri" pitchFamily="34" charset="-122"/>
                <a:cs typeface="Calibri" pitchFamily="34" charset="-120"/>
              </a:rPr>
              <a:t>MPTCP — MEASURED (4 EXPERIMENTS)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36192"/>
          <a:ext cx="6400800" cy="914400"/>
        </p:xfrm>
        <a:graphic>
          <a:graphicData uri="http://schemas.openxmlformats.org/drawingml/2006/table">
            <a:tbl>
              <a:tblPr/>
              <a:tblGrid>
                <a:gridCol w="502920"/>
                <a:gridCol w="2148840"/>
                <a:gridCol w="1234440"/>
                <a:gridCol w="1325880"/>
                <a:gridCol w="1188720"/>
              </a:tblGrid>
              <a:tr h="384048">
                <a:tc>
                  <a:txBody>
                    <a:bodyPr/>
                    <a:lstStyle/>
                    <a:p>
                      <a:pPr indent="0" marL="0">
                        <a:buNone/>
                      </a:pPr>
                      <a:r>
                        <a:rPr lang="en-US" sz="1000" b="1" dirty="0">
                          <a:solidFill>
                            <a:srgbClr val="FFFFFF"/>
                          </a:solidFill>
                        </a:rPr>
                        <a:t>Exp</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rPr>
                        <a:t>Scenario</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rPr>
                        <a:t>Throughput</a:t>
                      </a:r>
                      <a:endParaRPr lang="en-US" sz="1000" dirty="0"/>
                    </a:p>
                    <a:p>
                      <a:pPr indent="0" marL="0">
                        <a:buNone/>
                      </a:pPr>
                      <a:r>
                        <a:rPr lang="en-US" sz="1000" b="1" dirty="0">
                          <a:solidFill>
                            <a:srgbClr val="FFFFFF"/>
                          </a:solidFill>
                        </a:rPr>
                        <a:t>(S/R, Mbps)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rPr>
                        <a:t>Path Split</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000" b="1" dirty="0">
                          <a:solidFill>
                            <a:srgbClr val="FFFFFF"/>
                          </a:solidFill>
                        </a:rPr>
                        <a:t>Result</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r>
              <a:tr h="384048">
                <a:tc>
                  <a:txBody>
                    <a:bodyPr/>
                    <a:lstStyle/>
                    <a:p>
                      <a:pPr indent="0" marL="0">
                        <a:buNone/>
                      </a:pPr>
                      <a:r>
                        <a:rPr lang="en-US" sz="1000" dirty="0">
                          <a:solidFill>
                            <a:srgbClr val="24273B"/>
                          </a:solidFill>
                        </a:rPr>
                        <a:t>E1</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Symmetric (50/10 both paths)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95.4 / 93.6</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50% / 50%</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b="1" dirty="0">
                          <a:solidFill>
                            <a:srgbClr val="1C7293"/>
                          </a:solidFill>
                        </a:rPr>
                        <a:t>As expected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384048">
                <a:tc>
                  <a:txBody>
                    <a:bodyPr/>
                    <a:lstStyle/>
                    <a:p>
                      <a:pPr indent="0" marL="0">
                        <a:buNone/>
                      </a:pPr>
                      <a:r>
                        <a:rPr lang="en-US" sz="1000" dirty="0">
                          <a:solidFill>
                            <a:srgbClr val="24273B"/>
                          </a:solidFill>
                        </a:rPr>
                        <a:t>E2</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Asymmetric (50/10 vs 5/80)</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52.5 / 51.2</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91% / 9%</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b="1" dirty="0">
                          <a:solidFill>
                            <a:srgbClr val="1C7293"/>
                          </a:solidFill>
                        </a:rPr>
                        <a:t>As expected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384048">
                <a:tc>
                  <a:txBody>
                    <a:bodyPr/>
                    <a:lstStyle/>
                    <a:p>
                      <a:pPr indent="0" marL="0">
                        <a:buNone/>
                      </a:pPr>
                      <a:r>
                        <a:rPr lang="en-US" sz="1000" dirty="0">
                          <a:solidFill>
                            <a:srgbClr val="24273B"/>
                          </a:solidFill>
                        </a:rPr>
                        <a:t>E3</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+ 3% loss on Path 2</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42.2 / 41.6</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98% / 2%</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b="1" dirty="0">
                          <a:solidFill>
                            <a:srgbClr val="1C7293"/>
                          </a:solidFill>
                        </a:rPr>
                        <a:t>As expected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457200">
                <a:tc>
                  <a:txBody>
                    <a:bodyPr/>
                    <a:lstStyle/>
                    <a:p>
                      <a:pPr indent="0" marL="0">
                        <a:buNone/>
                      </a:pPr>
                      <a:r>
                        <a:rPr lang="en-US" sz="1000" dirty="0">
                          <a:solidFill>
                            <a:srgbClr val="24273B"/>
                          </a:solidFill>
                        </a:rPr>
                        <a:t>E4</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Path 2 fails mid-transfer</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79.9 / 78.5</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dirty="0">
                          <a:solidFill>
                            <a:srgbClr val="24273B"/>
                          </a:solidFill>
                        </a:rPr>
                        <a:t>survives, ~1-3s recovery</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b="1" dirty="0">
                          <a:solidFill>
                            <a:srgbClr val="1C7293"/>
                          </a:solidFill>
                        </a:rPr>
                        <a:t>As expected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bl>
          </a:graphicData>
        </a:graphic>
      </p:graphicFrame>
      <p:sp>
        <p:nvSpPr>
          <p:cNvPr id="8" name="Text 4"/>
          <p:cNvSpPr txBox="1"/>
          <p:nvPr/>
        </p:nvSpPr>
        <p:spPr>
          <a:xfrm>
            <a:off x="7178040" y="1207008"/>
            <a:ext cx="4572000" cy="256032"/>
          </a:xfrm>
          <a:prstGeom prst="rect">
            <a:avLst/>
          </a:prstGeom>
          <a:noFill/>
          <a:ln/>
        </p:spPr>
        <p:txBody>
          <a:bodyPr wrap="square" lIns="0" tIns="0" rIns="0" bIns="0" rtlCol="0" anchor="ctr"/>
          <a:lstStyle/>
          <a:p>
            <a:pPr indent="0" marL="0">
              <a:buNone/>
            </a:pPr>
            <a:r>
              <a:rPr lang="en-US" sz="1200" b="1" spc="100" kern="0" dirty="0">
                <a:solidFill>
                  <a:srgbClr val="1E2761"/>
                </a:solidFill>
                <a:latin typeface="Calibri" pitchFamily="34" charset="0"/>
                <a:ea typeface="Calibri" pitchFamily="34" charset="-122"/>
                <a:cs typeface="Calibri" pitchFamily="34" charset="-120"/>
              </a:rPr>
              <a:t>AGGREGATE THROUGHPUT BY EXPERIMENT</a:t>
            </a:r>
            <a:endParaRPr lang="en-US" sz="1200" dirty="0"/>
          </a:p>
        </p:txBody>
      </p:sp>
      <p:graphicFrame>
        <p:nvGraphicFramePr>
          <p:cNvPr id="9" name="Chart 0" descr=""/>
          <p:cNvGraphicFramePr/>
          <p:nvPr/>
        </p:nvGraphicFramePr>
        <p:xfrm>
          <a:off x="7040880" y="1481328"/>
          <a:ext cx="4663440" cy="210312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txBox="1"/>
          <p:nvPr/>
        </p:nvSpPr>
        <p:spPr>
          <a:xfrm>
            <a:off x="457200" y="3913632"/>
            <a:ext cx="7315200" cy="256032"/>
          </a:xfrm>
          <a:prstGeom prst="rect">
            <a:avLst/>
          </a:prstGeom>
          <a:noFill/>
          <a:ln/>
        </p:spPr>
        <p:txBody>
          <a:bodyPr wrap="square" lIns="0" tIns="0" rIns="0" bIns="0" rtlCol="0" anchor="ctr"/>
          <a:lstStyle/>
          <a:p>
            <a:pPr indent="0" marL="0">
              <a:buNone/>
            </a:pPr>
            <a:r>
              <a:rPr lang="en-US" sz="1200" b="1" spc="100" kern="0" dirty="0">
                <a:solidFill>
                  <a:srgbClr val="1E2761"/>
                </a:solidFill>
                <a:latin typeface="Calibri" pitchFamily="34" charset="0"/>
                <a:ea typeface="Calibri" pitchFamily="34" charset="-122"/>
                <a:cs typeface="Calibri" pitchFamily="34" charset="-120"/>
              </a:rPr>
              <a:t>MP-QUIC (TQUIC) — MEASURED (4 EXPERIMENTS, 3 SCHEDULERS)</a:t>
            </a:r>
            <a:endParaRPr lang="en-US" sz="1200" dirty="0"/>
          </a:p>
        </p:txBody>
      </p:sp>
      <p:sp>
        <p:nvSpPr>
          <p:cNvPr id="11" name="Shape 6"/>
          <p:cNvSpPr/>
          <p:nvPr/>
        </p:nvSpPr>
        <p:spPr>
          <a:xfrm>
            <a:off x="457200" y="4206240"/>
            <a:ext cx="11274552" cy="1874520"/>
          </a:xfrm>
          <a:prstGeom prst="roundRect">
            <a:avLst>
              <a:gd name="adj" fmla="val 3902"/>
            </a:avLst>
          </a:prstGeom>
          <a:solidFill>
            <a:srgbClr val="FFFFFF"/>
          </a:solidFill>
          <a:ln w="12700">
            <a:solidFill>
              <a:srgbClr val="C1666B"/>
            </a:solidFill>
            <a:prstDash val="solid"/>
          </a:ln>
          <a:effectLst>
            <a:outerShdw sx="100000" sy="100000" kx="0" ky="0" algn="bl" rotWithShape="0" blurRad="76200" dist="25400" dir="5400000">
              <a:srgbClr val="9AA5C2">
                <a:alpha val="18000"/>
              </a:srgbClr>
            </a:outerShdw>
          </a:effectLst>
        </p:spPr>
      </p:sp>
      <p:sp>
        <p:nvSpPr>
          <p:cNvPr id="12" name="Text 7"/>
          <p:cNvSpPr txBox="1"/>
          <p:nvPr/>
        </p:nvSpPr>
        <p:spPr>
          <a:xfrm>
            <a:off x="731520" y="4370832"/>
            <a:ext cx="10698480" cy="160020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24273B"/>
                </a:solidFill>
                <a:latin typeface="Calibri" pitchFamily="34" charset="0"/>
                <a:ea typeface="Calibri" pitchFamily="34" charset="-122"/>
                <a:cs typeface="Calibri" pitchFamily="34" charset="-120"/>
              </a:rPr>
              <a:t>Tested via TQUIC across three schedulers (MinRTT, Round Robin, Redundant) on the identical topology, plus three application workloads (file transfer, video, VoIP)</a:t>
            </a:r>
            <a:endParaRPr lang="en-US" sz="1100" dirty="0"/>
          </a:p>
          <a:p>
            <a:pPr marL="177800" indent="-177800">
              <a:spcAft>
                <a:spcPts val="600"/>
              </a:spcAft>
              <a:buSzPct val="100000"/>
              <a:buChar char="•"/>
            </a:pPr>
            <a:r>
              <a:rPr lang="en-US" sz="1100" dirty="0">
                <a:solidFill>
                  <a:srgbClr val="24273B"/>
                </a:solidFill>
                <a:latin typeface="Calibri" pitchFamily="34" charset="0"/>
                <a:ea typeface="Calibri" pitchFamily="34" charset="-122"/>
                <a:cs typeface="Calibri" pitchFamily="34" charset="-120"/>
              </a:rPr>
              <a:t>E1-E2: all three schedulers succeeded, 60-95 Mbps depending on scheduler, skew comparable to MPTCP's under asymmetry (E2: ~91%/9% split)</a:t>
            </a:r>
            <a:endParaRPr lang="en-US" sz="1100" dirty="0"/>
          </a:p>
          <a:p>
            <a:pPr marL="177800" indent="-177800">
              <a:spcAft>
                <a:spcPts val="600"/>
              </a:spcAft>
              <a:buSzPct val="100000"/>
              <a:buChar char="•"/>
            </a:pPr>
            <a:r>
              <a:rPr lang="en-US" sz="1100" dirty="0">
                <a:solidFill>
                  <a:srgbClr val="24273B"/>
                </a:solidFill>
                <a:latin typeface="Calibri" pitchFamily="34" charset="0"/>
                <a:ea typeface="Calibri" pitchFamily="34" charset="-122"/>
                <a:cs typeface="Calibri" pitchFamily="34" charset="-120"/>
              </a:rPr>
              <a:t>E3 (lossy): Round Robin's file transfer failed to complete in time (10.8 Mbps avg); MinRTT and Redundant both completed normally (~56 Mbps) — scheduler choice matters as much as protocol choice</a:t>
            </a:r>
            <a:endParaRPr lang="en-US" sz="1100" dirty="0"/>
          </a:p>
          <a:p>
            <a:pPr marL="177800" indent="-177800">
              <a:spcAft>
                <a:spcPts val="600"/>
              </a:spcAft>
              <a:buSzPct val="100000"/>
              <a:buChar char="•"/>
            </a:pPr>
            <a:r>
              <a:rPr lang="en-US" sz="1100" dirty="0">
                <a:solidFill>
                  <a:srgbClr val="24273B"/>
                </a:solidFill>
                <a:latin typeface="Calibri" pitchFamily="34" charset="0"/>
                <a:ea typeface="Calibri" pitchFamily="34" charset="-122"/>
                <a:cs typeface="Calibri" pitchFamily="34" charset="-120"/>
              </a:rPr>
              <a:t>E4 (failure): all three schedulers survived, recovery 1.5-2.1s, comparable to MPTCP's ~1-3s recovery</a:t>
            </a:r>
            <a:endParaRPr lang="en-US" sz="1100" dirty="0"/>
          </a:p>
        </p:txBody>
      </p:sp>
      <p:sp>
        <p:nvSpPr>
          <p:cNvPr id="13" name="Text 8"/>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MPTCP vs MP-QUIC</a:t>
            </a:r>
            <a:endParaRPr lang="en-US" sz="900" dirty="0"/>
          </a:p>
        </p:txBody>
      </p:sp>
      <p:sp>
        <p:nvSpPr>
          <p:cNvPr id="14" name="Text 9"/>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1E2761"/>
          </a:solidFill>
          <a:ln/>
        </p:spPr>
      </p:sp>
      <p:pic>
        <p:nvPicPr>
          <p:cNvPr id="3" name="Image 0" descr="/home/claude/ppt/icons/shield.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04 · QUALITY ATTRIBUTES</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Non-Functional Testing Parameters</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98448"/>
          <a:ext cx="11274552" cy="914400"/>
        </p:xfrm>
        <a:graphic>
          <a:graphicData uri="http://schemas.openxmlformats.org/drawingml/2006/table">
            <a:tbl>
              <a:tblPr/>
              <a:tblGrid>
                <a:gridCol w="1920240"/>
                <a:gridCol w="3383280"/>
                <a:gridCol w="3383280"/>
                <a:gridCol w="1463040"/>
              </a:tblGrid>
              <a:tr h="365760">
                <a:tc>
                  <a:txBody>
                    <a:bodyPr/>
                    <a:lstStyle/>
                    <a:p>
                      <a:pPr indent="0" marL="0">
                        <a:buNone/>
                      </a:pPr>
                      <a:r>
                        <a:rPr lang="en-US" sz="1100" b="1" dirty="0">
                          <a:solidFill>
                            <a:srgbClr val="FFFFFF"/>
                          </a:solidFill>
                        </a:rPr>
                        <a:t>Parameter</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rPr>
                        <a:t>MPTCP</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rPr>
                        <a:t>MP-QUIC</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rPr>
                        <a:t>Basis</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r>
              <a:tr h="777240">
                <a:tc>
                  <a:txBody>
                    <a:bodyPr/>
                    <a:lstStyle/>
                    <a:p>
                      <a:pPr indent="0" marL="0">
                        <a:buNone/>
                      </a:pPr>
                      <a:r>
                        <a:rPr lang="en-US" sz="1050" b="1" dirty="0">
                          <a:solidFill>
                            <a:srgbClr val="24273B"/>
                          </a:solidFill>
                        </a:rPr>
                        <a:t>Performance</a:t>
                      </a:r>
                      <a:endParaRPr lang="en-US" sz="1050" dirty="0"/>
                    </a:p>
                    <a:p>
                      <a:pPr indent="0" marL="0">
                        <a:buNone/>
                      </a:pPr>
                      <a:r>
                        <a:rPr lang="en-US" sz="1050" b="1" dirty="0">
                          <a:solidFill>
                            <a:srgbClr val="24273B"/>
                          </a:solidFill>
                        </a:rPr>
                        <a:t>(throughput / RTT / jitter)</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Near-linear aggregation on symmetric paths; skews toward the better path when asymmetric</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Measured comparable aggregation; scheduler choice (MinRTT / RR / Redundant) matters more than protocol choice</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i="1" dirty="0">
                          <a:solidFill>
                            <a:srgbClr val="1C7293"/>
                          </a:solidFill>
                        </a:rPr>
                        <a:t>Measured / Measured</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777240">
                <a:tc>
                  <a:txBody>
                    <a:bodyPr/>
                    <a:lstStyle/>
                    <a:p>
                      <a:pPr indent="0" marL="0">
                        <a:buNone/>
                      </a:pPr>
                      <a:r>
                        <a:rPr lang="en-US" sz="1050" b="1" dirty="0">
                          <a:solidFill>
                            <a:srgbClr val="24273B"/>
                          </a:solidFill>
                        </a:rPr>
                        <a:t>Reliability</a:t>
                      </a:r>
                      <a:endParaRPr lang="en-US" sz="1050" dirty="0"/>
                    </a:p>
                    <a:p>
                      <a:pPr indent="0" marL="0">
                        <a:buNone/>
                      </a:pPr>
                      <a:r>
                        <a:rPr lang="en-US" sz="1050" b="1" dirty="0">
                          <a:solidFill>
                            <a:srgbClr val="24273B"/>
                          </a:solidFill>
                        </a:rPr>
                        <a:t>(path-failure tolerance)</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Survives path loss; RTO-based detection, ~1-3s recovery (measured)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Survives path loss; probe-based (PATH_CHALLENGE) detection, 1.5-2.1s recovery measured across three schedulers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i="1" dirty="0">
                          <a:solidFill>
                            <a:srgbClr val="1C7293"/>
                          </a:solidFill>
                        </a:rPr>
                        <a:t>Measured / Measured</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685800">
                <a:tc>
                  <a:txBody>
                    <a:bodyPr/>
                    <a:lstStyle/>
                    <a:p>
                      <a:pPr indent="0" marL="0">
                        <a:buNone/>
                      </a:pPr>
                      <a:r>
                        <a:rPr lang="en-US" sz="1050" b="1" dirty="0">
                          <a:solidFill>
                            <a:srgbClr val="24273B"/>
                          </a:solidFill>
                        </a:rPr>
                        <a:t>Scalability</a:t>
                      </a:r>
                      <a:endParaRPr lang="en-US" sz="1050" dirty="0"/>
                    </a:p>
                    <a:p>
                      <a:pPr indent="0" marL="0">
                        <a:buNone/>
                      </a:pPr>
                      <a:r>
                        <a:rPr lang="en-US" sz="1050" b="1" dirty="0">
                          <a:solidFill>
                            <a:srgbClr val="24273B"/>
                          </a:solidFill>
                        </a:rPr>
                        <a:t>(adding more paths)</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Per-subflow kernel state; path manager overhead grows with subflow count</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Paths are library-level over UDP; generally cheaper to add than kernel subflows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i="1" dirty="0">
                          <a:solidFill>
                            <a:srgbClr val="1C7293"/>
                          </a:solidFill>
                        </a:rPr>
                        <a:t>Literature</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685800">
                <a:tc>
                  <a:txBody>
                    <a:bodyPr/>
                    <a:lstStyle/>
                    <a:p>
                      <a:pPr indent="0" marL="0">
                        <a:buNone/>
                      </a:pPr>
                      <a:r>
                        <a:rPr lang="en-US" sz="1050" b="1" dirty="0">
                          <a:solidFill>
                            <a:srgbClr val="24273B"/>
                          </a:solidFill>
                        </a:rPr>
                        <a:t>Fairness</a:t>
                      </a:r>
                      <a:endParaRPr lang="en-US" sz="1050" dirty="0"/>
                    </a:p>
                    <a:p>
                      <a:pPr indent="0" marL="0">
                        <a:buNone/>
                      </a:pPr>
                      <a:r>
                        <a:rPr lang="en-US" sz="1050" b="1" dirty="0">
                          <a:solidFill>
                            <a:srgbClr val="24273B"/>
                          </a:solidFill>
                        </a:rPr>
                        <a:t>(vs. single-path TCP)</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Coupled congestion control (LIA / OLIA / BALIA) protects shared-bottleneck fairness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No IETF-standardized coupling yet; fairness behavior is library-specific</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i="1" dirty="0">
                          <a:solidFill>
                            <a:srgbClr val="1C7293"/>
                          </a:solidFill>
                        </a:rPr>
                        <a:t>Literature</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777240">
                <a:tc>
                  <a:txBody>
                    <a:bodyPr/>
                    <a:lstStyle/>
                    <a:p>
                      <a:pPr indent="0" marL="0">
                        <a:buNone/>
                      </a:pPr>
                      <a:r>
                        <a:rPr lang="en-US" sz="1050" b="1" dirty="0">
                          <a:solidFill>
                            <a:srgbClr val="24273B"/>
                          </a:solidFill>
                        </a:rPr>
                        <a:t>Compatibility</a:t>
                      </a:r>
                      <a:endParaRPr lang="en-US" sz="1050" dirty="0"/>
                    </a:p>
                    <a:p>
                      <a:pPr indent="0" marL="0">
                        <a:buNone/>
                      </a:pPr>
                      <a:r>
                        <a:rPr lang="en-US" sz="1050" b="1" dirty="0">
                          <a:solidFill>
                            <a:srgbClr val="24273B"/>
                          </a:solidFill>
                        </a:rPr>
                        <a:t>(middlebox traversal)</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TCP-options-based; fragile where middleboxes strip unknown options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1000" dirty="0">
                          <a:solidFill>
                            <a:srgbClr val="24273B"/>
                          </a:solidFill>
                        </a:rPr>
                        <a:t>UDP-based; generally more middlebox-friendly, though some networks throttle UDP</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indent="0" marL="0">
                        <a:buNone/>
                      </a:pPr>
                      <a:r>
                        <a:rPr lang="en-US" sz="950" i="1" dirty="0">
                          <a:solidFill>
                            <a:srgbClr val="1C7293"/>
                          </a:solidFill>
                        </a:rPr>
                        <a:t>Literature</a:t>
                      </a:r>
                      <a:endParaRPr lang="en-US" sz="9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bl>
          </a:graphicData>
        </a:graphic>
      </p:graphicFrame>
      <p:sp>
        <p:nvSpPr>
          <p:cNvPr id="7" name="Shape 3"/>
          <p:cNvSpPr/>
          <p:nvPr/>
        </p:nvSpPr>
        <p:spPr>
          <a:xfrm>
            <a:off x="457200" y="5623560"/>
            <a:ext cx="11274552" cy="594360"/>
          </a:xfrm>
          <a:prstGeom prst="roundRect">
            <a:avLst>
              <a:gd name="adj" fmla="val 12308"/>
            </a:avLst>
          </a:prstGeom>
          <a:solidFill>
            <a:srgbClr val="FFFFFF"/>
          </a:solidFill>
          <a:ln w="12700">
            <a:solidFill>
              <a:srgbClr val="1C7293"/>
            </a:solidFill>
            <a:prstDash val="solid"/>
          </a:ln>
        </p:spPr>
      </p:sp>
      <p:sp>
        <p:nvSpPr>
          <p:cNvPr id="8" name="Text 4"/>
          <p:cNvSpPr txBox="1"/>
          <p:nvPr/>
        </p:nvSpPr>
        <p:spPr>
          <a:xfrm>
            <a:off x="822960" y="5623560"/>
            <a:ext cx="10607040" cy="594360"/>
          </a:xfrm>
          <a:prstGeom prst="rect">
            <a:avLst/>
          </a:prstGeom>
          <a:noFill/>
          <a:ln/>
        </p:spPr>
        <p:txBody>
          <a:bodyPr wrap="square" lIns="0" tIns="0" rIns="0" bIns="0" rtlCol="0" anchor="ctr"/>
          <a:lstStyle/>
          <a:p>
            <a:pPr algn="ctr" indent="0" marL="0">
              <a:buNone/>
            </a:pPr>
            <a:r>
              <a:rPr lang="en-US" sz="1400" i="1" dirty="0">
                <a:solidFill>
                  <a:srgbClr val="1E2761"/>
                </a:solidFill>
                <a:latin typeface="Cambria" pitchFamily="34" charset="0"/>
                <a:ea typeface="Cambria" pitchFamily="34" charset="-122"/>
                <a:cs typeface="Cambria" pitchFamily="34" charset="-120"/>
              </a:rPr>
              <a:t>Across every dimension, the two protocols make different trade-offs — neither dominates the other outright.</a:t>
            </a:r>
            <a:endParaRPr lang="en-US" sz="1400" dirty="0"/>
          </a:p>
        </p:txBody>
      </p:sp>
      <p:sp>
        <p:nvSpPr>
          <p:cNvPr id="9" name="Text 5"/>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MPTCP vs MP-QUIC</a:t>
            </a:r>
            <a:endParaRPr lang="en-US" sz="900" dirty="0"/>
          </a:p>
        </p:txBody>
      </p:sp>
      <p:sp>
        <p:nvSpPr>
          <p:cNvPr id="10" name="Text 6"/>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C1666B"/>
          </a:solidFill>
          <a:ln/>
        </p:spPr>
      </p:sp>
      <p:pic>
        <p:nvPicPr>
          <p:cNvPr id="3" name="Image 0" descr="/home/claude/ppt/icons/alert.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05 · LESSONS FROM THE FIELD</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Challenges Faced</a:t>
            </a:r>
            <a:endParaRPr lang="en-US" sz="2700" dirty="0"/>
          </a:p>
        </p:txBody>
      </p:sp>
      <p:sp>
        <p:nvSpPr>
          <p:cNvPr id="6" name="Shape 3"/>
          <p:cNvSpPr/>
          <p:nvPr/>
        </p:nvSpPr>
        <p:spPr>
          <a:xfrm>
            <a:off x="457200" y="1371600"/>
            <a:ext cx="5486400" cy="2057400"/>
          </a:xfrm>
          <a:prstGeom prst="roundRect">
            <a:avLst>
              <a:gd name="adj" fmla="val 3556"/>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7" name="Text 4"/>
          <p:cNvSpPr txBox="1"/>
          <p:nvPr/>
        </p:nvSpPr>
        <p:spPr>
          <a:xfrm>
            <a:off x="731520" y="1591056"/>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Kernel-level MPTCP configuration</a:t>
            </a:r>
            <a:endParaRPr lang="en-US" sz="1550" dirty="0"/>
          </a:p>
        </p:txBody>
      </p:sp>
      <p:sp>
        <p:nvSpPr>
          <p:cNvPr id="8" name="Text 5"/>
          <p:cNvSpPr txBox="1"/>
          <p:nvPr/>
        </p:nvSpPr>
        <p:spPr>
          <a:xfrm>
            <a:off x="731520" y="2084832"/>
            <a:ext cx="4937760" cy="1188720"/>
          </a:xfrm>
          <a:prstGeom prst="rect">
            <a:avLst/>
          </a:prstGeom>
          <a:noFill/>
          <a:ln/>
        </p:spPr>
        <p:txBody>
          <a:bodyPr wrap="square" lIns="0" tIns="0" rIns="0" bIns="0" rtlCol="0" anchor="ctr"/>
          <a:lstStyle/>
          <a:p>
            <a:pPr indent="0" marL="0">
              <a:lnSpc>
                <a:spcPct val="125000"/>
              </a:lnSpc>
              <a:buNone/>
            </a:pPr>
            <a:r>
              <a:rPr lang="en-US" sz="1250" dirty="0">
                <a:solidFill>
                  <a:srgbClr val="24273B"/>
                </a:solidFill>
                <a:latin typeface="Calibri" pitchFamily="34" charset="0"/>
                <a:ea typeface="Calibri" pitchFamily="34" charset="-122"/>
                <a:cs typeface="Calibri" pitchFamily="34" charset="-120"/>
              </a:rPr>
              <a:t>Path-manager modes, per-subflow limits, and sysctls needed careful tuning — very different from configuring a userspace library.</a:t>
            </a:r>
            <a:endParaRPr lang="en-US" sz="1250" dirty="0"/>
          </a:p>
        </p:txBody>
      </p:sp>
      <p:sp>
        <p:nvSpPr>
          <p:cNvPr id="9" name="Shape 6"/>
          <p:cNvSpPr/>
          <p:nvPr/>
        </p:nvSpPr>
        <p:spPr>
          <a:xfrm>
            <a:off x="6245352" y="1371600"/>
            <a:ext cx="5486400" cy="2057400"/>
          </a:xfrm>
          <a:prstGeom prst="roundRect">
            <a:avLst>
              <a:gd name="adj" fmla="val 3556"/>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0" name="Text 7"/>
          <p:cNvSpPr txBox="1"/>
          <p:nvPr/>
        </p:nvSpPr>
        <p:spPr>
          <a:xfrm>
            <a:off x="6519672" y="1591056"/>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Building a directly comparable topology</a:t>
            </a:r>
            <a:endParaRPr lang="en-US" sz="1550" dirty="0"/>
          </a:p>
        </p:txBody>
      </p:sp>
      <p:sp>
        <p:nvSpPr>
          <p:cNvPr id="11" name="Text 8"/>
          <p:cNvSpPr txBox="1"/>
          <p:nvPr/>
        </p:nvSpPr>
        <p:spPr>
          <a:xfrm>
            <a:off x="6519672" y="2084832"/>
            <a:ext cx="4937760" cy="1188720"/>
          </a:xfrm>
          <a:prstGeom prst="rect">
            <a:avLst/>
          </a:prstGeom>
          <a:noFill/>
          <a:ln/>
        </p:spPr>
        <p:txBody>
          <a:bodyPr wrap="square" lIns="0" tIns="0" rIns="0" bIns="0" rtlCol="0" anchor="ctr"/>
          <a:lstStyle/>
          <a:p>
            <a:pPr indent="0" marL="0">
              <a:lnSpc>
                <a:spcPct val="125000"/>
              </a:lnSpc>
              <a:buNone/>
            </a:pPr>
            <a:r>
              <a:rPr lang="en-US" sz="1250" dirty="0">
                <a:solidFill>
                  <a:srgbClr val="24273B"/>
                </a:solidFill>
                <a:latin typeface="Calibri" pitchFamily="34" charset="0"/>
                <a:ea typeface="Calibri" pitchFamily="34" charset="-122"/>
                <a:cs typeface="Calibri" pitchFamily="34" charset="-120"/>
              </a:rPr>
              <a:t>Mirroring identical NetEm parameters (bandwidth, delay, loss) across a kernel stack (MPTCP) and a userspace library (MP-QUIC) so results stay comparable.</a:t>
            </a:r>
            <a:endParaRPr lang="en-US" sz="1250" dirty="0"/>
          </a:p>
        </p:txBody>
      </p:sp>
      <p:sp>
        <p:nvSpPr>
          <p:cNvPr id="12" name="Shape 9"/>
          <p:cNvSpPr/>
          <p:nvPr/>
        </p:nvSpPr>
        <p:spPr>
          <a:xfrm>
            <a:off x="457200" y="3611880"/>
            <a:ext cx="5486400" cy="2057400"/>
          </a:xfrm>
          <a:prstGeom prst="roundRect">
            <a:avLst>
              <a:gd name="adj" fmla="val 3556"/>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3" name="Text 10"/>
          <p:cNvSpPr txBox="1"/>
          <p:nvPr/>
        </p:nvSpPr>
        <p:spPr>
          <a:xfrm>
            <a:off x="731520" y="3831336"/>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Mininet did not behave as expected for MP-QUIC</a:t>
            </a:r>
            <a:endParaRPr lang="en-US" sz="1550" dirty="0"/>
          </a:p>
        </p:txBody>
      </p:sp>
      <p:sp>
        <p:nvSpPr>
          <p:cNvPr id="14" name="Text 11"/>
          <p:cNvSpPr txBox="1"/>
          <p:nvPr/>
        </p:nvSpPr>
        <p:spPr>
          <a:xfrm>
            <a:off x="731520" y="4325112"/>
            <a:ext cx="4937760" cy="1188720"/>
          </a:xfrm>
          <a:prstGeom prst="rect">
            <a:avLst/>
          </a:prstGeom>
          <a:noFill/>
          <a:ln/>
        </p:spPr>
        <p:txBody>
          <a:bodyPr wrap="square" lIns="0" tIns="0" rIns="0" bIns="0" rtlCol="0" anchor="ctr"/>
          <a:lstStyle/>
          <a:p>
            <a:pPr indent="0" marL="0">
              <a:lnSpc>
                <a:spcPct val="125000"/>
              </a:lnSpc>
              <a:buNone/>
            </a:pPr>
            <a:r>
              <a:rPr lang="en-US" sz="1250" dirty="0">
                <a:solidFill>
                  <a:srgbClr val="24273B"/>
                </a:solidFill>
                <a:latin typeface="Calibri" pitchFamily="34" charset="0"/>
                <a:ea typeface="Calibri" pitchFamily="34" charset="-122"/>
                <a:cs typeface="Calibri" pitchFamily="34" charset="-120"/>
              </a:rPr>
              <a:t>Initial MP-QUIC testbed attempts inside Mininet produced inconsistent path isolation and unstable TQUIC multipath behavior across runs. We moved to network namespaces and veth pairs directly, verified with Wireshark, before running the measurements reported here.</a:t>
            </a:r>
            <a:endParaRPr lang="en-US" sz="1250" dirty="0"/>
          </a:p>
        </p:txBody>
      </p:sp>
      <p:sp>
        <p:nvSpPr>
          <p:cNvPr id="15" name="Shape 12"/>
          <p:cNvSpPr/>
          <p:nvPr/>
        </p:nvSpPr>
        <p:spPr>
          <a:xfrm>
            <a:off x="6245352" y="3611880"/>
            <a:ext cx="5486400" cy="2057400"/>
          </a:xfrm>
          <a:prstGeom prst="roundRect">
            <a:avLst>
              <a:gd name="adj" fmla="val 3556"/>
            </a:avLst>
          </a:prstGeom>
          <a:solidFill>
            <a:srgbClr val="FFFFFF"/>
          </a:solidFill>
          <a:ln w="12700">
            <a:solidFill>
              <a:srgbClr val="E1E6EF"/>
            </a:solidFill>
            <a:prstDash val="solid"/>
          </a:ln>
          <a:effectLst>
            <a:outerShdw sx="100000" sy="100000" kx="0" ky="0" algn="bl" rotWithShape="0" blurRad="76200" dist="25400" dir="5400000">
              <a:srgbClr val="9AA5C2">
                <a:alpha val="18000"/>
              </a:srgbClr>
            </a:outerShdw>
          </a:effectLst>
        </p:spPr>
      </p:sp>
      <p:sp>
        <p:nvSpPr>
          <p:cNvPr id="16" name="Text 13"/>
          <p:cNvSpPr txBox="1"/>
          <p:nvPr/>
        </p:nvSpPr>
        <p:spPr>
          <a:xfrm>
            <a:off x="6519672" y="3831336"/>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Scheduler heterogeneity</a:t>
            </a:r>
            <a:endParaRPr lang="en-US" sz="1550" dirty="0"/>
          </a:p>
        </p:txBody>
      </p:sp>
      <p:sp>
        <p:nvSpPr>
          <p:cNvPr id="17" name="Text 14"/>
          <p:cNvSpPr txBox="1"/>
          <p:nvPr/>
        </p:nvSpPr>
        <p:spPr>
          <a:xfrm>
            <a:off x="6519672" y="4325112"/>
            <a:ext cx="4937760" cy="1188720"/>
          </a:xfrm>
          <a:prstGeom prst="rect">
            <a:avLst/>
          </a:prstGeom>
          <a:noFill/>
          <a:ln/>
        </p:spPr>
        <p:txBody>
          <a:bodyPr wrap="square" lIns="0" tIns="0" rIns="0" bIns="0" rtlCol="0" anchor="ctr"/>
          <a:lstStyle/>
          <a:p>
            <a:pPr indent="0" marL="0">
              <a:lnSpc>
                <a:spcPct val="125000"/>
              </a:lnSpc>
              <a:buNone/>
            </a:pPr>
            <a:r>
              <a:rPr lang="en-US" sz="1250" dirty="0">
                <a:solidFill>
                  <a:srgbClr val="24273B"/>
                </a:solidFill>
                <a:latin typeface="Calibri" pitchFamily="34" charset="0"/>
                <a:ea typeface="Calibri" pitchFamily="34" charset="-122"/>
                <a:cs typeface="Calibri" pitchFamily="34" charset="-120"/>
              </a:rPr>
              <a:t>MPTCP's kernel scheduler and MP-QUIC library schedulers (e.g., TQUIC's MinRTT / Redundant) are not standardized the same way, complicating a strict apples-to-apples comparison.</a:t>
            </a:r>
            <a:endParaRPr lang="en-US" sz="1250" dirty="0"/>
          </a:p>
        </p:txBody>
      </p:sp>
      <p:sp>
        <p:nvSpPr>
          <p:cNvPr id="18" name="Text 15"/>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MPTCP vs MP-QUIC</a:t>
            </a:r>
            <a:endParaRPr lang="en-US" sz="900" dirty="0"/>
          </a:p>
        </p:txBody>
      </p:sp>
      <p:sp>
        <p:nvSpPr>
          <p:cNvPr id="19" name="Text 16"/>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457200" y="384048"/>
            <a:ext cx="594360" cy="594360"/>
          </a:xfrm>
          <a:prstGeom prst="ellipse">
            <a:avLst/>
          </a:prstGeom>
          <a:solidFill>
            <a:srgbClr val="1C7293"/>
          </a:solidFill>
          <a:ln/>
        </p:spPr>
      </p:sp>
      <p:pic>
        <p:nvPicPr>
          <p:cNvPr id="3" name="Image 0" descr="/home/claude/ppt/icons/compass.png">    </p:cNvPr>
          <p:cNvPicPr>
            <a:picLocks noChangeAspect="1"/>
          </p:cNvPicPr>
          <p:nvPr/>
        </p:nvPicPr>
        <p:blipFill>
          <a:blip r:embed="rId1"/>
          <a:stretch>
            <a:fillRect/>
          </a:stretch>
        </p:blipFill>
        <p:spPr>
          <a:xfrm>
            <a:off x="580644" y="507492"/>
            <a:ext cx="347472" cy="347472"/>
          </a:xfrm>
          <a:prstGeom prst="rect">
            <a:avLst/>
          </a:prstGeom>
        </p:spPr>
      </p:pic>
      <p:sp>
        <p:nvSpPr>
          <p:cNvPr id="4" name="Text 1"/>
          <p:cNvSpPr txBox="1"/>
          <p:nvPr/>
        </p:nvSpPr>
        <p:spPr>
          <a:xfrm>
            <a:off x="1234440" y="365760"/>
            <a:ext cx="8229600" cy="256032"/>
          </a:xfrm>
          <a:prstGeom prst="rect">
            <a:avLst/>
          </a:prstGeom>
          <a:noFill/>
          <a:ln/>
        </p:spPr>
        <p:txBody>
          <a:bodyPr wrap="square" lIns="0" tIns="0" rIns="0" bIns="0" rtlCol="0" anchor="ctr"/>
          <a:lstStyle/>
          <a:p>
            <a:pPr indent="0" marL="0">
              <a:buNone/>
            </a:pPr>
            <a:r>
              <a:rPr lang="en-US" sz="1100" b="1" spc="200" kern="0" dirty="0">
                <a:solidFill>
                  <a:srgbClr val="CADCFC"/>
                </a:solidFill>
                <a:latin typeface="Calibri" pitchFamily="34" charset="0"/>
                <a:ea typeface="Calibri" pitchFamily="34" charset="-122"/>
                <a:cs typeface="Calibri" pitchFamily="34" charset="-120"/>
              </a:rPr>
              <a:t>06 · PUTTING IT TOGETHER</a:t>
            </a:r>
            <a:endParaRPr lang="en-US" sz="1100" dirty="0"/>
          </a:p>
        </p:txBody>
      </p:sp>
      <p:sp>
        <p:nvSpPr>
          <p:cNvPr id="5" name="Text 2"/>
          <p:cNvSpPr txBox="1"/>
          <p:nvPr/>
        </p:nvSpPr>
        <p:spPr>
          <a:xfrm>
            <a:off x="1216152" y="594360"/>
            <a:ext cx="9601200" cy="5029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Comparative Summary &amp; Recommendations</a:t>
            </a:r>
            <a:endParaRPr lang="en-US" sz="2700" dirty="0"/>
          </a:p>
        </p:txBody>
      </p:sp>
      <p:sp>
        <p:nvSpPr>
          <p:cNvPr id="6" name="Shape 3"/>
          <p:cNvSpPr/>
          <p:nvPr/>
        </p:nvSpPr>
        <p:spPr>
          <a:xfrm>
            <a:off x="457200" y="1325880"/>
            <a:ext cx="11274552" cy="2331720"/>
          </a:xfrm>
          <a:prstGeom prst="roundRect">
            <a:avLst>
              <a:gd name="adj" fmla="val 3137"/>
            </a:avLst>
          </a:prstGeom>
          <a:solidFill>
            <a:srgbClr val="FFFFFF"/>
          </a:solidFill>
          <a:ln w="12700">
            <a:solidFill>
              <a:srgbClr val="FFFFFF"/>
            </a:solidFill>
            <a:prstDash val="solid"/>
          </a:ln>
          <a:effectLst>
            <a:outerShdw sx="100000" sy="100000" kx="0" ky="0" algn="bl" rotWithShape="0" blurRad="76200" dist="25400" dir="5400000">
              <a:srgbClr val="9AA5C2">
                <a:alpha val="18000"/>
              </a:srgbClr>
            </a:outerShdw>
          </a:effectLst>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27080" cy="914400"/>
        </p:xfrm>
        <a:graphic>
          <a:graphicData uri="http://schemas.openxmlformats.org/drawingml/2006/table">
            <a:tbl>
              <a:tblPr/>
              <a:tblGrid>
                <a:gridCol w="2148840"/>
                <a:gridCol w="2194560"/>
                <a:gridCol w="2194560"/>
                <a:gridCol w="2194560"/>
                <a:gridCol w="2194560"/>
              </a:tblGrid>
              <a:tr h="365760">
                <a:tc>
                  <a:txBody>
                    <a:bodyPr/>
                    <a:lstStyle/>
                    <a:p>
                      <a:pPr indent="0" marL="0">
                        <a:buNone/>
                      </a:pPr>
                      <a:endParaRPr lang="en-US" sz="12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TCP</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MPTCP</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QUIC</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rPr>
                        <a:t>MP-QUIC</a:t>
                      </a:r>
                      <a:endParaRPr lang="en-US" sz="11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1E2761"/>
                    </a:solidFill>
                  </a:tcPr>
                </a:tc>
              </a:tr>
              <a:tr h="594360">
                <a:tc>
                  <a:txBody>
                    <a:bodyPr/>
                    <a:lstStyle/>
                    <a:p>
                      <a:pPr indent="0" marL="0">
                        <a:buNone/>
                      </a:pPr>
                      <a:r>
                        <a:rPr lang="en-US" sz="1050" b="1" dirty="0">
                          <a:solidFill>
                            <a:srgbClr val="24273B"/>
                          </a:solidFill>
                        </a:rPr>
                        <a:t>Throughput</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Single path only</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b="1" dirty="0">
                          <a:solidFill>
                            <a:srgbClr val="1C7293"/>
                          </a:solidFill>
                        </a:rPr>
                        <a:t>Aggregates paths</a:t>
                      </a:r>
                      <a:endParaRPr lang="en-US" sz="1000" dirty="0"/>
                    </a:p>
                    <a:p>
                      <a:pPr algn="ctr" indent="0" marL="0">
                        <a:buNone/>
                      </a:pPr>
                      <a:r>
                        <a:rPr lang="en-US" sz="1000" b="1" dirty="0">
                          <a:solidFill>
                            <a:srgbClr val="1C7293"/>
                          </a:solidFill>
                        </a:rPr>
                        <a:t>(measured)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Single path only</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b="1" dirty="0">
                          <a:solidFill>
                            <a:srgbClr val="1C7293"/>
                          </a:solidFill>
                        </a:rPr>
                        <a:t>Aggregates paths</a:t>
                      </a:r>
                      <a:endParaRPr lang="en-US" sz="1000" dirty="0"/>
                    </a:p>
                    <a:p>
                      <a:pPr algn="ctr" indent="0" marL="0">
                        <a:buNone/>
                      </a:pPr>
                      <a:r>
                        <a:rPr lang="en-US" sz="1000" b="1" dirty="0">
                          <a:solidFill>
                            <a:srgbClr val="1C7293"/>
                          </a:solidFill>
                        </a:rPr>
                        <a:t>(measured)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594360">
                <a:tc>
                  <a:txBody>
                    <a:bodyPr/>
                    <a:lstStyle/>
                    <a:p>
                      <a:pPr indent="0" marL="0">
                        <a:buNone/>
                      </a:pPr>
                      <a:r>
                        <a:rPr lang="en-US" sz="1050" b="1" dirty="0">
                          <a:solidFill>
                            <a:srgbClr val="24273B"/>
                          </a:solidFill>
                        </a:rPr>
                        <a:t>Failure tolerance</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None — connection drops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b="1" dirty="0">
                          <a:solidFill>
                            <a:srgbClr val="1C7293"/>
                          </a:solidFill>
                        </a:rPr>
                        <a:t>Survives, RTO-based</a:t>
                      </a:r>
                      <a:endParaRPr lang="en-US" sz="1000" dirty="0"/>
                    </a:p>
                    <a:p>
                      <a:pPr algn="ctr" indent="0" marL="0">
                        <a:buNone/>
                      </a:pPr>
                      <a:r>
                        <a:rPr lang="en-US" sz="1000" b="1" dirty="0">
                          <a:solidFill>
                            <a:srgbClr val="1C7293"/>
                          </a:solidFill>
                        </a:rPr>
                        <a:t>(~1-3s, measured)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Fast reconnect only</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b="1" dirty="0">
                          <a:solidFill>
                            <a:srgbClr val="1C7293"/>
                          </a:solidFill>
                        </a:rPr>
                        <a:t>Survives, 1.5-2.1s recovery</a:t>
                      </a:r>
                      <a:endParaRPr lang="en-US" sz="1000" dirty="0"/>
                    </a:p>
                    <a:p>
                      <a:pPr algn="ctr" indent="0" marL="0">
                        <a:buNone/>
                      </a:pPr>
                      <a:r>
                        <a:rPr lang="en-US" sz="1000" b="1" dirty="0">
                          <a:solidFill>
                            <a:srgbClr val="1C7293"/>
                          </a:solidFill>
                        </a:rPr>
                        <a:t>(measured)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r h="594360">
                <a:tc>
                  <a:txBody>
                    <a:bodyPr/>
                    <a:lstStyle/>
                    <a:p>
                      <a:pPr indent="0" marL="0">
                        <a:buNone/>
                      </a:pPr>
                      <a:r>
                        <a:rPr lang="en-US" sz="1050" b="1" dirty="0">
                          <a:solidFill>
                            <a:srgbClr val="24273B"/>
                          </a:solidFill>
                        </a:rPr>
                        <a:t>Middlebox compatibility</a:t>
                      </a:r>
                      <a:endParaRPr lang="en-US" sz="105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High (ubiquitous)</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b="1" dirty="0">
                          <a:solidFill>
                            <a:srgbClr val="C1666B"/>
                          </a:solidFill>
                        </a:rPr>
                        <a:t>Fragile — TCP-options</a:t>
                      </a:r>
                      <a:endParaRPr lang="en-US" sz="1000" dirty="0"/>
                    </a:p>
                    <a:p>
                      <a:pPr algn="ctr" indent="0" marL="0">
                        <a:buNone/>
                      </a:pPr>
                      <a:r>
                        <a:rPr lang="en-US" sz="1000" b="1" dirty="0">
                          <a:solidFill>
                            <a:srgbClr val="C1666B"/>
                          </a:solidFill>
                        </a:rPr>
                        <a:t>can be stripped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Generally good</a:t>
                      </a:r>
                      <a:endParaRPr lang="en-US" sz="1000" dirty="0"/>
                    </a:p>
                    <a:p>
                      <a:pPr algn="ctr" indent="0" marL="0">
                        <a:buNone/>
                      </a:pPr>
                      <a:r>
                        <a:rPr lang="en-US" sz="1000" dirty="0">
                          <a:solidFill>
                            <a:srgbClr val="24273B"/>
                          </a:solidFill>
                        </a:rPr>
                        <a:t>(UDP-based)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c>
                  <a:txBody>
                    <a:bodyPr/>
                    <a:lstStyle/>
                    <a:p>
                      <a:pPr algn="ctr" indent="0" marL="0">
                        <a:buNone/>
                      </a:pPr>
                      <a:r>
                        <a:rPr lang="en-US" sz="1000" dirty="0">
                          <a:solidFill>
                            <a:srgbClr val="24273B"/>
                          </a:solidFill>
                        </a:rPr>
                        <a:t>Generally good, but</a:t>
                      </a:r>
                      <a:endParaRPr lang="en-US" sz="1000" dirty="0"/>
                    </a:p>
                    <a:p>
                      <a:pPr algn="ctr" indent="0" marL="0">
                        <a:buNone/>
                      </a:pPr>
                      <a:r>
                        <a:rPr lang="en-US" sz="1000" dirty="0">
                          <a:solidFill>
                            <a:srgbClr val="24273B"/>
                          </a:solidFill>
                        </a:rPr>
                        <a:t>UDP can be throttled</a:t>
                      </a:r>
                      <a:endParaRPr lang="en-US" sz="1000" dirty="0"/>
                    </a:p>
                  </a:txBody>
                  <a:tcPr marL="91440" marR="91440" marT="45720" marB="4572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tcPr>
                </a:tc>
              </a:tr>
            </a:tbl>
          </a:graphicData>
        </a:graphic>
      </p:graphicFrame>
      <p:sp>
        <p:nvSpPr>
          <p:cNvPr id="8" name="Text 4"/>
          <p:cNvSpPr txBox="1"/>
          <p:nvPr/>
        </p:nvSpPr>
        <p:spPr>
          <a:xfrm>
            <a:off x="457200" y="3931920"/>
            <a:ext cx="10058400" cy="274320"/>
          </a:xfrm>
          <a:prstGeom prst="rect">
            <a:avLst/>
          </a:prstGeom>
          <a:noFill/>
          <a:ln/>
        </p:spPr>
        <p:txBody>
          <a:bodyPr wrap="square" lIns="0" tIns="0" rIns="0" bIns="0" rtlCol="0" anchor="ctr"/>
          <a:lstStyle/>
          <a:p>
            <a:pPr indent="0" marL="0">
              <a:buNone/>
            </a:pPr>
            <a:r>
              <a:rPr lang="en-US" sz="1200" b="1" spc="100" kern="0" dirty="0">
                <a:solidFill>
                  <a:srgbClr val="CADCFC"/>
                </a:solidFill>
                <a:latin typeface="Calibri" pitchFamily="34" charset="0"/>
                <a:ea typeface="Calibri" pitchFamily="34" charset="-122"/>
                <a:cs typeface="Calibri" pitchFamily="34" charset="-120"/>
              </a:rPr>
              <a:t>RECOMMENDATION BY APPLICATION — NO SINGLE PROTOCOL WINS OUTRIGHT</a:t>
            </a:r>
            <a:endParaRPr lang="en-US" sz="1200" dirty="0"/>
          </a:p>
        </p:txBody>
      </p:sp>
      <p:sp>
        <p:nvSpPr>
          <p:cNvPr id="9" name="Shape 5"/>
          <p:cNvSpPr/>
          <p:nvPr/>
        </p:nvSpPr>
        <p:spPr>
          <a:xfrm>
            <a:off x="457200" y="4279392"/>
            <a:ext cx="3657600" cy="1874520"/>
          </a:xfrm>
          <a:prstGeom prst="roundRect">
            <a:avLst>
              <a:gd name="adj" fmla="val 3902"/>
            </a:avLst>
          </a:prstGeom>
          <a:solidFill>
            <a:srgbClr val="24306E"/>
          </a:solidFill>
          <a:ln w="12700">
            <a:solidFill>
              <a:srgbClr val="3A48A0"/>
            </a:solidFill>
            <a:prstDash val="solid"/>
          </a:ln>
          <a:effectLst>
            <a:outerShdw sx="100000" sy="100000" kx="0" ky="0" algn="bl" rotWithShape="0" blurRad="76200" dist="25400" dir="5400000">
              <a:srgbClr val="9AA5C2">
                <a:alpha val="18000"/>
              </a:srgbClr>
            </a:outerShdw>
          </a:effectLst>
        </p:spPr>
      </p:sp>
      <p:sp>
        <p:nvSpPr>
          <p:cNvPr id="10" name="Text 6"/>
          <p:cNvSpPr txBox="1"/>
          <p:nvPr/>
        </p:nvSpPr>
        <p:spPr>
          <a:xfrm>
            <a:off x="713232" y="4462272"/>
            <a:ext cx="32004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Video Streaming</a:t>
            </a:r>
            <a:endParaRPr lang="en-US" sz="1450" dirty="0"/>
          </a:p>
        </p:txBody>
      </p:sp>
      <p:sp>
        <p:nvSpPr>
          <p:cNvPr id="11" name="Text 7"/>
          <p:cNvSpPr txBox="1"/>
          <p:nvPr/>
        </p:nvSpPr>
        <p:spPr>
          <a:xfrm>
            <a:off x="713232" y="4864608"/>
            <a:ext cx="3200400" cy="1188720"/>
          </a:xfrm>
          <a:prstGeom prst="rect">
            <a:avLst/>
          </a:prstGeom>
          <a:noFill/>
          <a:ln/>
        </p:spPr>
        <p:txBody>
          <a:bodyPr wrap="square" lIns="0" tIns="0" rIns="0" bIns="0" rtlCol="0" anchor="ctr"/>
          <a:lstStyle/>
          <a:p>
            <a:pPr indent="0" marL="0">
              <a:lnSpc>
                <a:spcPct val="120000"/>
              </a:lnSpc>
              <a:buNone/>
            </a:pPr>
            <a:r>
              <a:rPr lang="en-US" sz="1100" dirty="0">
                <a:solidFill>
                  <a:srgbClr val="CADCFC"/>
                </a:solidFill>
                <a:latin typeface="Calibri" pitchFamily="34" charset="0"/>
                <a:ea typeface="Calibri" pitchFamily="34" charset="-122"/>
                <a:cs typeface="Calibri" pitchFamily="34" charset="-120"/>
              </a:rPr>
              <a:t>Favor low-latency, redundancy-aware scheduling to protect QoE against jitter and path-loss spikes.</a:t>
            </a:r>
            <a:endParaRPr lang="en-US" sz="1100" dirty="0"/>
          </a:p>
        </p:txBody>
      </p:sp>
      <p:sp>
        <p:nvSpPr>
          <p:cNvPr id="12" name="Shape 8"/>
          <p:cNvSpPr/>
          <p:nvPr/>
        </p:nvSpPr>
        <p:spPr>
          <a:xfrm>
            <a:off x="4270248" y="4279392"/>
            <a:ext cx="3657600" cy="1874520"/>
          </a:xfrm>
          <a:prstGeom prst="roundRect">
            <a:avLst>
              <a:gd name="adj" fmla="val 3902"/>
            </a:avLst>
          </a:prstGeom>
          <a:solidFill>
            <a:srgbClr val="24306E"/>
          </a:solidFill>
          <a:ln w="12700">
            <a:solidFill>
              <a:srgbClr val="3A48A0"/>
            </a:solidFill>
            <a:prstDash val="solid"/>
          </a:ln>
          <a:effectLst>
            <a:outerShdw sx="100000" sy="100000" kx="0" ky="0" algn="bl" rotWithShape="0" blurRad="76200" dist="25400" dir="5400000">
              <a:srgbClr val="9AA5C2">
                <a:alpha val="18000"/>
              </a:srgbClr>
            </a:outerShdw>
          </a:effectLst>
        </p:spPr>
      </p:sp>
      <p:sp>
        <p:nvSpPr>
          <p:cNvPr id="13" name="Text 9"/>
          <p:cNvSpPr txBox="1"/>
          <p:nvPr/>
        </p:nvSpPr>
        <p:spPr>
          <a:xfrm>
            <a:off x="4526280" y="4462272"/>
            <a:ext cx="32004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File Transfer</a:t>
            </a:r>
            <a:endParaRPr lang="en-US" sz="1450" dirty="0"/>
          </a:p>
        </p:txBody>
      </p:sp>
      <p:sp>
        <p:nvSpPr>
          <p:cNvPr id="14" name="Text 10"/>
          <p:cNvSpPr txBox="1"/>
          <p:nvPr/>
        </p:nvSpPr>
        <p:spPr>
          <a:xfrm>
            <a:off x="4526280" y="4864608"/>
            <a:ext cx="3200400" cy="1188720"/>
          </a:xfrm>
          <a:prstGeom prst="rect">
            <a:avLst/>
          </a:prstGeom>
          <a:noFill/>
          <a:ln/>
        </p:spPr>
        <p:txBody>
          <a:bodyPr wrap="square" lIns="0" tIns="0" rIns="0" bIns="0" rtlCol="0" anchor="ctr"/>
          <a:lstStyle/>
          <a:p>
            <a:pPr indent="0" marL="0">
              <a:lnSpc>
                <a:spcPct val="120000"/>
              </a:lnSpc>
              <a:buNone/>
            </a:pPr>
            <a:r>
              <a:rPr lang="en-US" sz="1100" dirty="0">
                <a:solidFill>
                  <a:srgbClr val="CADCFC"/>
                </a:solidFill>
                <a:latin typeface="Calibri" pitchFamily="34" charset="0"/>
                <a:ea typeface="Calibri" pitchFamily="34" charset="-122"/>
                <a:cs typeface="Calibri" pitchFamily="34" charset="-120"/>
              </a:rPr>
              <a:t>Favor coupled throughput aggregation (MPTCP-style) to maximize bulk-transfer bandwidth.</a:t>
            </a:r>
            <a:endParaRPr lang="en-US" sz="1100" dirty="0"/>
          </a:p>
        </p:txBody>
      </p:sp>
      <p:sp>
        <p:nvSpPr>
          <p:cNvPr id="15" name="Shape 11"/>
          <p:cNvSpPr/>
          <p:nvPr/>
        </p:nvSpPr>
        <p:spPr>
          <a:xfrm>
            <a:off x="8083296" y="4279392"/>
            <a:ext cx="3657600" cy="1874520"/>
          </a:xfrm>
          <a:prstGeom prst="roundRect">
            <a:avLst>
              <a:gd name="adj" fmla="val 3902"/>
            </a:avLst>
          </a:prstGeom>
          <a:solidFill>
            <a:srgbClr val="24306E"/>
          </a:solidFill>
          <a:ln w="12700">
            <a:solidFill>
              <a:srgbClr val="3A48A0"/>
            </a:solidFill>
            <a:prstDash val="solid"/>
          </a:ln>
          <a:effectLst>
            <a:outerShdw sx="100000" sy="100000" kx="0" ky="0" algn="bl" rotWithShape="0" blurRad="76200" dist="25400" dir="5400000">
              <a:srgbClr val="9AA5C2">
                <a:alpha val="18000"/>
              </a:srgbClr>
            </a:outerShdw>
          </a:effectLst>
        </p:spPr>
      </p:sp>
      <p:sp>
        <p:nvSpPr>
          <p:cNvPr id="16" name="Text 12"/>
          <p:cNvSpPr txBox="1"/>
          <p:nvPr/>
        </p:nvSpPr>
        <p:spPr>
          <a:xfrm>
            <a:off x="8339328" y="4462272"/>
            <a:ext cx="32004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VoIP</a:t>
            </a:r>
            <a:endParaRPr lang="en-US" sz="1450" dirty="0"/>
          </a:p>
        </p:txBody>
      </p:sp>
      <p:sp>
        <p:nvSpPr>
          <p:cNvPr id="17" name="Text 13"/>
          <p:cNvSpPr txBox="1"/>
          <p:nvPr/>
        </p:nvSpPr>
        <p:spPr>
          <a:xfrm>
            <a:off x="8339328" y="4864608"/>
            <a:ext cx="3200400" cy="1188720"/>
          </a:xfrm>
          <a:prstGeom prst="rect">
            <a:avLst/>
          </a:prstGeom>
          <a:noFill/>
          <a:ln/>
        </p:spPr>
        <p:txBody>
          <a:bodyPr wrap="square" lIns="0" tIns="0" rIns="0" bIns="0" rtlCol="0" anchor="ctr"/>
          <a:lstStyle/>
          <a:p>
            <a:pPr indent="0" marL="0">
              <a:lnSpc>
                <a:spcPct val="120000"/>
              </a:lnSpc>
              <a:buNone/>
            </a:pPr>
            <a:r>
              <a:rPr lang="en-US" sz="1100" dirty="0">
                <a:solidFill>
                  <a:srgbClr val="CADCFC"/>
                </a:solidFill>
                <a:latin typeface="Calibri" pitchFamily="34" charset="0"/>
                <a:ea typeface="Calibri" pitchFamily="34" charset="-122"/>
                <a:cs typeface="Calibri" pitchFamily="34" charset="-120"/>
              </a:rPr>
              <a:t>Favor redundant multipath scheduling (either protocol) — trading bandwidth for resilience against loss/jitter.</a:t>
            </a:r>
            <a:endParaRPr lang="en-US" sz="1100" dirty="0"/>
          </a:p>
        </p:txBody>
      </p:sp>
      <p:sp>
        <p:nvSpPr>
          <p:cNvPr id="18" name="Text 14"/>
          <p:cNvSpPr txBox="1"/>
          <p:nvPr/>
        </p:nvSpPr>
        <p:spPr>
          <a:xfrm>
            <a:off x="457200" y="6537960"/>
            <a:ext cx="3657600" cy="256032"/>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MPTCP vs MP-QUIC</a:t>
            </a:r>
            <a:endParaRPr lang="en-US" sz="900" dirty="0"/>
          </a:p>
        </p:txBody>
      </p:sp>
      <p:sp>
        <p:nvSpPr>
          <p:cNvPr id="19" name="Text 15"/>
          <p:cNvSpPr txBox="1"/>
          <p:nvPr/>
        </p:nvSpPr>
        <p:spPr>
          <a:xfrm>
            <a:off x="11338560" y="6537960"/>
            <a:ext cx="365760" cy="256032"/>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2026-09-10T18:46:27Z</dcterms:created>
  <dcterms:modified xsi:type="dcterms:W3CDTF">2026-09-10T18:46:27Z</dcterms:modified>
</cp:coreProperties>
</file>